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1" r:id="rId5"/>
    <p:sldId id="2563" r:id="rId6"/>
    <p:sldId id="2564" r:id="rId7"/>
    <p:sldId id="2565" r:id="rId8"/>
    <p:sldId id="2566" r:id="rId9"/>
    <p:sldId id="2567" r:id="rId10"/>
    <p:sldId id="2568" r:id="rId11"/>
    <p:sldId id="2569" r:id="rId12"/>
    <p:sldId id="2570" r:id="rId13"/>
    <p:sldId id="2571" r:id="rId14"/>
    <p:sldId id="2573" r:id="rId23"/>
    <p:sldId id="25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vestment Proposal for Shruti Suman" id="{C442E6E0-AA48-4873-A11A-75DD8087417D}">
          <p14:sldIdLst>
            <p14:sldId id="2561"/>
          </p14:sldIdLst>
        </p14:section>
        <p14:section name="Cover Slide" id="{D23ECFE3-AA48-4305-A9DA-5EFE102713DE}">
          <p14:sldIdLst>
            <p14:sldId id="2563"/>
          </p14:sldIdLst>
        </p14:section>
        <p14:section name="Asset Mix &amp; Suggested Allocation" id="{89C92C42-ED7C-4E26-8526-9F28626BCDB3}">
          <p14:sldIdLst>
            <p14:sldId id="2564"/>
            <p14:sldId id="2565"/>
          </p14:sldIdLst>
        </p14:section>
        <p14:section name="Fund Analysis Slides" id="{EAF4AD0E-FA45-401B-9B8B-A6A37A1879F0}">
          <p14:sldIdLst>
            <p14:sldId id="2566"/>
            <p14:sldId id="2567"/>
            <p14:sldId id="2568"/>
            <p14:sldId id="2569"/>
            <p14:sldId id="2570"/>
          </p14:sldIdLst>
        </p14:section>
        <p14:section name="Key Metrics &amp; Compliance Notes" id="{BAF3DE2C-7BF6-4982-97F1-D44815D03CE1}">
          <p14:sldIdLst>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CCECA2-C81D-CBB1-5E35-FDF913C6DEC2}" v="16" dt="2026-01-05T07:22:47.954"/>
    <p1510:client id="{A19B93BF-61EA-4881-84D5-720BF1A56E10}" v="15" dt="2026-01-05T06:02:37.1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19B93BF-61EA-4881-84D5-720BF1A56E10}"/>
    <pc:docChg chg="addSld delSld modSld addSection">
      <pc:chgData name="" userId="" providerId="" clId="Web-{A19B93BF-61EA-4881-84D5-720BF1A56E10}" dt="2026-01-05T06:02:37.157" v="15" actId="34807"/>
      <pc:docMkLst>
        <pc:docMk/>
      </pc:docMkLst>
      <pc:sldChg chg="del">
        <pc:chgData name="" userId="" providerId="" clId="Web-{A19B93BF-61EA-4881-84D5-720BF1A56E10}" dt="2026-01-05T06:02:37.079" v="0" actId="34807"/>
        <pc:sldMkLst>
          <pc:docMk/>
          <pc:sldMk cId="2589239513" sldId="256"/>
        </pc:sldMkLst>
      </pc:sldChg>
      <pc:sldChg chg="modSp add mod modClrScheme addAnim chgLayout">
        <pc:chgData name="" userId="" providerId="" clId="Web-{A19B93BF-61EA-4881-84D5-720BF1A56E10}" dt="2026-01-05T06:02:37.141" v="4" actId="34807"/>
        <pc:sldMkLst>
          <pc:docMk/>
          <pc:sldMk cId="908220993" sldId="2561"/>
        </pc:sldMkLst>
        <pc:spChg chg="mod">
          <ac:chgData name="" userId="" providerId="" clId="Web-{A19B93BF-61EA-4881-84D5-720BF1A56E10}" dt="2026-01-05T06:02:37.141" v="1" actId="34807"/>
          <ac:spMkLst>
            <pc:docMk/>
            <pc:sldMk cId="908220993" sldId="2561"/>
            <ac:spMk id="2" creationId="{B994A33D-1ECE-6ADC-CED9-D4F4318E2B5B}"/>
          </ac:spMkLst>
        </pc:spChg>
        <pc:spChg chg="mod">
          <ac:chgData name="" userId="" providerId="" clId="Web-{A19B93BF-61EA-4881-84D5-720BF1A56E10}" dt="2026-01-05T06:02:37.141" v="1" actId="34807"/>
          <ac:spMkLst>
            <pc:docMk/>
            <pc:sldMk cId="908220993" sldId="2561"/>
            <ac:spMk id="3" creationId="{0CCED440-4C6C-269F-49E6-AEE9BB9F7D50}"/>
          </ac:spMkLst>
        </pc:spChg>
        <pc:picChg chg="mod">
          <ac:chgData name="" userId="" providerId="" clId="Web-{A19B93BF-61EA-4881-84D5-720BF1A56E10}" dt="2026-01-05T06:02:37.141" v="1" actId="34807"/>
          <ac:picMkLst>
            <pc:docMk/>
            <pc:sldMk cId="908220993" sldId="2561"/>
            <ac:picMk id="4" creationId="{77251077-5FEF-4A2B-85B6-040660749FC3}"/>
          </ac:picMkLst>
        </pc:picChg>
      </pc:sldChg>
      <pc:sldChg chg="modSp add mod modTransition addAnim chgLayout">
        <pc:chgData name="" userId="" providerId="" clId="Web-{A19B93BF-61EA-4881-84D5-720BF1A56E10}" dt="2026-01-05T06:02:37.141" v="5" actId="34807"/>
        <pc:sldMkLst>
          <pc:docMk/>
          <pc:sldMk cId="3890333779" sldId="2562"/>
        </pc:sldMkLst>
        <pc:spChg chg="mod">
          <ac:chgData name="" userId="" providerId="" clId="Web-{A19B93BF-61EA-4881-84D5-720BF1A56E10}" dt="2026-01-05T06:02:37.141" v="1" actId="34807"/>
          <ac:spMkLst>
            <pc:docMk/>
            <pc:sldMk cId="3890333779" sldId="2562"/>
            <ac:spMk id="2" creationId="{20D6D69B-9E5D-1C31-AAA4-92BF94B4CE5A}"/>
          </ac:spMkLst>
        </pc:spChg>
      </pc:sldChg>
      <pc:sldChg chg="modSp add mod modTransition modClrScheme addAnim chgLayout">
        <pc:chgData name="" userId="" providerId="" clId="Web-{A19B93BF-61EA-4881-84D5-720BF1A56E10}" dt="2026-01-05T06:02:37.141" v="6" actId="34807"/>
        <pc:sldMkLst>
          <pc:docMk/>
          <pc:sldMk cId="1528911637" sldId="2563"/>
        </pc:sldMkLst>
        <pc:spChg chg="mod">
          <ac:chgData name="" userId="" providerId="" clId="Web-{A19B93BF-61EA-4881-84D5-720BF1A56E10}" dt="2026-01-05T06:02:37.141" v="1" actId="34807"/>
          <ac:spMkLst>
            <pc:docMk/>
            <pc:sldMk cId="1528911637" sldId="2563"/>
            <ac:spMk id="2" creationId="{428BB6BF-118E-1C3F-E38F-7EDBBB8D6311}"/>
          </ac:spMkLst>
        </pc:spChg>
        <pc:spChg chg="mod">
          <ac:chgData name="" userId="" providerId="" clId="Web-{A19B93BF-61EA-4881-84D5-720BF1A56E10}" dt="2026-01-05T06:02:37.141" v="1" actId="34807"/>
          <ac:spMkLst>
            <pc:docMk/>
            <pc:sldMk cId="1528911637" sldId="2563"/>
            <ac:spMk id="4" creationId="{FBD3ADD2-0993-A93A-936F-35C990FD73F6}"/>
          </ac:spMkLst>
        </pc:spChg>
        <pc:picChg chg="mod">
          <ac:chgData name="" userId="" providerId="" clId="Web-{A19B93BF-61EA-4881-84D5-720BF1A56E10}" dt="2026-01-05T06:02:37.141" v="1" actId="34807"/>
          <ac:picMkLst>
            <pc:docMk/>
            <pc:sldMk cId="1528911637" sldId="2563"/>
            <ac:picMk id="5" creationId="{89150227-E3A6-4BED-85C3-2B83034771BA}"/>
          </ac:picMkLst>
        </pc:picChg>
      </pc:sldChg>
      <pc:sldChg chg="modSp add mod modTransition addAnim chgLayout">
        <pc:chgData name="" userId="" providerId="" clId="Web-{A19B93BF-61EA-4881-84D5-720BF1A56E10}" dt="2026-01-05T06:02:37.141" v="7" actId="34807"/>
        <pc:sldMkLst>
          <pc:docMk/>
          <pc:sldMk cId="2346744429" sldId="2564"/>
        </pc:sldMkLst>
        <pc:spChg chg="mod">
          <ac:chgData name="" userId="" providerId="" clId="Web-{A19B93BF-61EA-4881-84D5-720BF1A56E10}" dt="2026-01-05T06:02:37.141" v="1" actId="34807"/>
          <ac:spMkLst>
            <pc:docMk/>
            <pc:sldMk cId="2346744429" sldId="2564"/>
            <ac:spMk id="2" creationId="{C917B7AC-ACAE-72A8-FA58-F65981713C32}"/>
          </ac:spMkLst>
        </pc:spChg>
      </pc:sldChg>
      <pc:sldChg chg="modSp add mod modTransition modClrScheme addAnim chgLayout">
        <pc:chgData name="" userId="" providerId="" clId="Web-{A19B93BF-61EA-4881-84D5-720BF1A56E10}" dt="2026-01-05T06:02:37.141" v="8" actId="34807"/>
        <pc:sldMkLst>
          <pc:docMk/>
          <pc:sldMk cId="2423886464" sldId="2565"/>
        </pc:sldMkLst>
        <pc:spChg chg="mod">
          <ac:chgData name="" userId="" providerId="" clId="Web-{A19B93BF-61EA-4881-84D5-720BF1A56E10}" dt="2026-01-05T06:02:37.141" v="1" actId="34807"/>
          <ac:spMkLst>
            <pc:docMk/>
            <pc:sldMk cId="2423886464" sldId="2565"/>
            <ac:spMk id="2" creationId="{791AD68F-2976-CCB3-2AA3-D46A457BC999}"/>
          </ac:spMkLst>
        </pc:spChg>
        <pc:spChg chg="mod">
          <ac:chgData name="" userId="" providerId="" clId="Web-{A19B93BF-61EA-4881-84D5-720BF1A56E10}" dt="2026-01-05T06:02:37.141" v="1" actId="34807"/>
          <ac:spMkLst>
            <pc:docMk/>
            <pc:sldMk cId="2423886464" sldId="2565"/>
            <ac:spMk id="4" creationId="{6C0DA7F5-9FF8-DEF5-789F-9E09C6E7CCEF}"/>
          </ac:spMkLst>
        </pc:spChg>
        <pc:picChg chg="mod">
          <ac:chgData name="" userId="" providerId="" clId="Web-{A19B93BF-61EA-4881-84D5-720BF1A56E10}" dt="2026-01-05T06:02:37.141" v="1" actId="34807"/>
          <ac:picMkLst>
            <pc:docMk/>
            <pc:sldMk cId="2423886464" sldId="2565"/>
            <ac:picMk id="5" creationId="{C6C5EF3F-CA7E-4C97-A4AE-3773EDBA721C}"/>
          </ac:picMkLst>
        </pc:picChg>
      </pc:sldChg>
      <pc:sldChg chg="modSp add mod modTransition addAnim chgLayout">
        <pc:chgData name="" userId="" providerId="" clId="Web-{A19B93BF-61EA-4881-84D5-720BF1A56E10}" dt="2026-01-05T06:02:37.141" v="9" actId="34807"/>
        <pc:sldMkLst>
          <pc:docMk/>
          <pc:sldMk cId="992377409" sldId="2566"/>
        </pc:sldMkLst>
        <pc:spChg chg="mod">
          <ac:chgData name="" userId="" providerId="" clId="Web-{A19B93BF-61EA-4881-84D5-720BF1A56E10}" dt="2026-01-05T06:02:37.141" v="1" actId="34807"/>
          <ac:spMkLst>
            <pc:docMk/>
            <pc:sldMk cId="992377409" sldId="2566"/>
            <ac:spMk id="2" creationId="{8C464564-63FE-A45C-9B59-55CB18FA6278}"/>
          </ac:spMkLst>
        </pc:spChg>
      </pc:sldChg>
      <pc:sldChg chg="modSp add mod modTransition modClrScheme addAnim chgLayout">
        <pc:chgData name="" userId="" providerId="" clId="Web-{A19B93BF-61EA-4881-84D5-720BF1A56E10}" dt="2026-01-05T06:02:37.157" v="10" actId="34807"/>
        <pc:sldMkLst>
          <pc:docMk/>
          <pc:sldMk cId="3824509584" sldId="2567"/>
        </pc:sldMkLst>
        <pc:spChg chg="mod">
          <ac:chgData name="" userId="" providerId="" clId="Web-{A19B93BF-61EA-4881-84D5-720BF1A56E10}" dt="2026-01-05T06:02:37.141" v="1" actId="34807"/>
          <ac:spMkLst>
            <pc:docMk/>
            <pc:sldMk cId="3824509584" sldId="2567"/>
            <ac:spMk id="2" creationId="{A2853194-2407-AEA5-4A84-169C95014DBD}"/>
          </ac:spMkLst>
        </pc:spChg>
        <pc:spChg chg="mod">
          <ac:chgData name="" userId="" providerId="" clId="Web-{A19B93BF-61EA-4881-84D5-720BF1A56E10}" dt="2026-01-05T06:02:37.141" v="1" actId="34807"/>
          <ac:spMkLst>
            <pc:docMk/>
            <pc:sldMk cId="3824509584" sldId="2567"/>
            <ac:spMk id="4" creationId="{84A02BBE-DAD8-9DE1-2CA2-283786E20552}"/>
          </ac:spMkLst>
        </pc:spChg>
        <pc:picChg chg="mod">
          <ac:chgData name="" userId="" providerId="" clId="Web-{A19B93BF-61EA-4881-84D5-720BF1A56E10}" dt="2026-01-05T06:02:37.141" v="1" actId="34807"/>
          <ac:picMkLst>
            <pc:docMk/>
            <pc:sldMk cId="3824509584" sldId="2567"/>
            <ac:picMk id="5" creationId="{E842327E-346A-4D74-951B-C74DD2FA2304}"/>
          </ac:picMkLst>
        </pc:picChg>
      </pc:sldChg>
      <pc:sldChg chg="modSp add mod modTransition modClrScheme addAnim chgLayout">
        <pc:chgData name="" userId="" providerId="" clId="Web-{A19B93BF-61EA-4881-84D5-720BF1A56E10}" dt="2026-01-05T06:02:37.157" v="11" actId="34807"/>
        <pc:sldMkLst>
          <pc:docMk/>
          <pc:sldMk cId="3350493246" sldId="2568"/>
        </pc:sldMkLst>
        <pc:spChg chg="mod">
          <ac:chgData name="" userId="" providerId="" clId="Web-{A19B93BF-61EA-4881-84D5-720BF1A56E10}" dt="2026-01-05T06:02:37.141" v="1" actId="34807"/>
          <ac:spMkLst>
            <pc:docMk/>
            <pc:sldMk cId="3350493246" sldId="2568"/>
            <ac:spMk id="2" creationId="{66662DE2-E0DF-52B7-798E-1F642CAACEF6}"/>
          </ac:spMkLst>
        </pc:spChg>
        <pc:spChg chg="mod">
          <ac:chgData name="" userId="" providerId="" clId="Web-{A19B93BF-61EA-4881-84D5-720BF1A56E10}" dt="2026-01-05T06:02:37.141" v="1" actId="34807"/>
          <ac:spMkLst>
            <pc:docMk/>
            <pc:sldMk cId="3350493246" sldId="2568"/>
            <ac:spMk id="4" creationId="{8310FD2C-C214-7C32-1FDD-9DA9322CBB8F}"/>
          </ac:spMkLst>
        </pc:spChg>
        <pc:picChg chg="mod">
          <ac:chgData name="" userId="" providerId="" clId="Web-{A19B93BF-61EA-4881-84D5-720BF1A56E10}" dt="2026-01-05T06:02:37.141" v="1" actId="34807"/>
          <ac:picMkLst>
            <pc:docMk/>
            <pc:sldMk cId="3350493246" sldId="2568"/>
            <ac:picMk id="5" creationId="{CD9F8E93-8711-4236-A151-8F1183DD8932}"/>
          </ac:picMkLst>
        </pc:picChg>
      </pc:sldChg>
      <pc:sldChg chg="modSp add mod modTransition modClrScheme addAnim chgLayout">
        <pc:chgData name="" userId="" providerId="" clId="Web-{A19B93BF-61EA-4881-84D5-720BF1A56E10}" dt="2026-01-05T06:02:37.157" v="12" actId="34807"/>
        <pc:sldMkLst>
          <pc:docMk/>
          <pc:sldMk cId="2172631881" sldId="2569"/>
        </pc:sldMkLst>
        <pc:spChg chg="mod">
          <ac:chgData name="" userId="" providerId="" clId="Web-{A19B93BF-61EA-4881-84D5-720BF1A56E10}" dt="2026-01-05T06:02:37.141" v="1" actId="34807"/>
          <ac:spMkLst>
            <pc:docMk/>
            <pc:sldMk cId="2172631881" sldId="2569"/>
            <ac:spMk id="2" creationId="{312B7B86-99B6-0D41-582B-045D8B450887}"/>
          </ac:spMkLst>
        </pc:spChg>
        <pc:spChg chg="mod">
          <ac:chgData name="" userId="" providerId="" clId="Web-{A19B93BF-61EA-4881-84D5-720BF1A56E10}" dt="2026-01-05T06:02:37.141" v="1" actId="34807"/>
          <ac:spMkLst>
            <pc:docMk/>
            <pc:sldMk cId="2172631881" sldId="2569"/>
            <ac:spMk id="4" creationId="{2A700C05-92E4-6937-953E-8988C271FFA5}"/>
          </ac:spMkLst>
        </pc:spChg>
        <pc:picChg chg="mod">
          <ac:chgData name="" userId="" providerId="" clId="Web-{A19B93BF-61EA-4881-84D5-720BF1A56E10}" dt="2026-01-05T06:02:37.141" v="1" actId="34807"/>
          <ac:picMkLst>
            <pc:docMk/>
            <pc:sldMk cId="2172631881" sldId="2569"/>
            <ac:picMk id="5" creationId="{B830F9A1-7B2A-489D-BDF4-00588F3EDC6A}"/>
          </ac:picMkLst>
        </pc:picChg>
      </pc:sldChg>
      <pc:sldChg chg="modSp add mod modTransition modClrScheme addAnim chgLayout">
        <pc:chgData name="" userId="" providerId="" clId="Web-{A19B93BF-61EA-4881-84D5-720BF1A56E10}" dt="2026-01-05T06:02:37.157" v="13" actId="34807"/>
        <pc:sldMkLst>
          <pc:docMk/>
          <pc:sldMk cId="1826972755" sldId="2570"/>
        </pc:sldMkLst>
        <pc:spChg chg="mod">
          <ac:chgData name="" userId="" providerId="" clId="Web-{A19B93BF-61EA-4881-84D5-720BF1A56E10}" dt="2026-01-05T06:02:37.141" v="1" actId="34807"/>
          <ac:spMkLst>
            <pc:docMk/>
            <pc:sldMk cId="1826972755" sldId="2570"/>
            <ac:spMk id="2" creationId="{69477040-633E-F8BF-82F8-00F45F7D0CF5}"/>
          </ac:spMkLst>
        </pc:spChg>
        <pc:spChg chg="mod">
          <ac:chgData name="" userId="" providerId="" clId="Web-{A19B93BF-61EA-4881-84D5-720BF1A56E10}" dt="2026-01-05T06:02:37.141" v="1" actId="34807"/>
          <ac:spMkLst>
            <pc:docMk/>
            <pc:sldMk cId="1826972755" sldId="2570"/>
            <ac:spMk id="4" creationId="{A6FF2E3C-CB6E-4A82-A8C2-7AEC3AA66263}"/>
          </ac:spMkLst>
        </pc:spChg>
        <pc:picChg chg="mod ord">
          <ac:chgData name="" userId="" providerId="" clId="Web-{A19B93BF-61EA-4881-84D5-720BF1A56E10}" dt="2026-01-05T06:02:37.141" v="1" actId="34807"/>
          <ac:picMkLst>
            <pc:docMk/>
            <pc:sldMk cId="1826972755" sldId="2570"/>
            <ac:picMk id="5" creationId="{7EB37F37-46EA-4CCA-B609-0FF72E804FE6}"/>
          </ac:picMkLst>
        </pc:picChg>
      </pc:sldChg>
      <pc:sldChg chg="modSp add mod modTransition addAnim chgLayout">
        <pc:chgData name="" userId="" providerId="" clId="Web-{A19B93BF-61EA-4881-84D5-720BF1A56E10}" dt="2026-01-05T06:02:37.157" v="14" actId="34807"/>
        <pc:sldMkLst>
          <pc:docMk/>
          <pc:sldMk cId="2376384703" sldId="2571"/>
        </pc:sldMkLst>
        <pc:spChg chg="mod">
          <ac:chgData name="" userId="" providerId="" clId="Web-{A19B93BF-61EA-4881-84D5-720BF1A56E10}" dt="2026-01-05T06:02:37.141" v="1" actId="34807"/>
          <ac:spMkLst>
            <pc:docMk/>
            <pc:sldMk cId="2376384703" sldId="2571"/>
            <ac:spMk id="2" creationId="{B06D25FC-18B4-9043-3D7D-20C557D9E1C3}"/>
          </ac:spMkLst>
        </pc:spChg>
      </pc:sldChg>
      <pc:sldChg chg="modSp add mod modTransition modClrScheme addAnim chgLayout">
        <pc:chgData name="" userId="" providerId="" clId="Web-{A19B93BF-61EA-4881-84D5-720BF1A56E10}" dt="2026-01-05T06:02:37.157" v="15" actId="34807"/>
        <pc:sldMkLst>
          <pc:docMk/>
          <pc:sldMk cId="2759009417" sldId="2572"/>
        </pc:sldMkLst>
        <pc:spChg chg="mod">
          <ac:chgData name="" userId="" providerId="" clId="Web-{A19B93BF-61EA-4881-84D5-720BF1A56E10}" dt="2026-01-05T06:02:37.141" v="1" actId="34807"/>
          <ac:spMkLst>
            <pc:docMk/>
            <pc:sldMk cId="2759009417" sldId="2572"/>
            <ac:spMk id="2" creationId="{F2D044C9-D344-F0D8-CB33-5A213143850F}"/>
          </ac:spMkLst>
        </pc:spChg>
        <pc:spChg chg="mod">
          <ac:chgData name="" userId="" providerId="" clId="Web-{A19B93BF-61EA-4881-84D5-720BF1A56E10}" dt="2026-01-05T06:02:37.141" v="1" actId="34807"/>
          <ac:spMkLst>
            <pc:docMk/>
            <pc:sldMk cId="2759009417" sldId="2572"/>
            <ac:spMk id="4" creationId="{019AC9B8-595C-3521-AA57-FBD9EDECBDA7}"/>
          </ac:spMkLst>
        </pc:spChg>
        <pc:picChg chg="mod">
          <ac:chgData name="" userId="" providerId="" clId="Web-{A19B93BF-61EA-4881-84D5-720BF1A56E10}" dt="2026-01-05T06:02:37.141" v="1" actId="34807"/>
          <ac:picMkLst>
            <pc:docMk/>
            <pc:sldMk cId="2759009417" sldId="2572"/>
            <ac:picMk id="5" creationId="{6D233084-1B48-4A70-8FCA-860768F36560}"/>
          </ac:picMkLst>
        </pc:picChg>
      </pc:sldChg>
    </pc:docChg>
  </pc:docChgLst>
  <pc:docChgLst>
    <pc:chgData name="Adarsh Shukla/HO/Retail &amp; Institutional Business/AMC" userId="S::adarsh.shukla@bajajamc.com::0f3eb383-2920-414c-80c9-12df0c190395" providerId="AD" clId="Web-{4CCCECA2-C81D-CBB1-5E35-FDF913C6DEC2}"/>
    <pc:docChg chg="delSld modSld modSection">
      <pc:chgData name="Adarsh Shukla/HO/Retail &amp; Institutional Business/AMC" userId="S::adarsh.shukla@bajajamc.com::0f3eb383-2920-414c-80c9-12df0c190395" providerId="AD" clId="Web-{4CCCECA2-C81D-CBB1-5E35-FDF913C6DEC2}" dt="2026-01-05T07:22:47.954" v="15" actId="1076"/>
      <pc:docMkLst>
        <pc:docMk/>
      </pc:docMkLst>
      <pc:sldChg chg="del">
        <pc:chgData name="Adarsh Shukla/HO/Retail &amp; Institutional Business/AMC" userId="S::adarsh.shukla@bajajamc.com::0f3eb383-2920-414c-80c9-12df0c190395" providerId="AD" clId="Web-{4CCCECA2-C81D-CBB1-5E35-FDF913C6DEC2}" dt="2026-01-05T07:20:37.375" v="0"/>
        <pc:sldMkLst>
          <pc:docMk/>
          <pc:sldMk cId="3890333779" sldId="2562"/>
        </pc:sldMkLst>
      </pc:sldChg>
      <pc:sldChg chg="addSp delSp modSp delAnim">
        <pc:chgData name="Adarsh Shukla/HO/Retail &amp; Institutional Business/AMC" userId="S::adarsh.shukla@bajajamc.com::0f3eb383-2920-414c-80c9-12df0c190395" providerId="AD" clId="Web-{4CCCECA2-C81D-CBB1-5E35-FDF913C6DEC2}" dt="2026-01-05T07:22:47.954" v="15" actId="1076"/>
        <pc:sldMkLst>
          <pc:docMk/>
          <pc:sldMk cId="1528911637" sldId="2563"/>
        </pc:sldMkLst>
        <pc:spChg chg="del">
          <ac:chgData name="Adarsh Shukla/HO/Retail &amp; Institutional Business/AMC" userId="S::adarsh.shukla@bajajamc.com::0f3eb383-2920-414c-80c9-12df0c190395" providerId="AD" clId="Web-{4CCCECA2-C81D-CBB1-5E35-FDF913C6DEC2}" dt="2026-01-05T07:21:08.516" v="4"/>
          <ac:spMkLst>
            <pc:docMk/>
            <pc:sldMk cId="1528911637" sldId="2563"/>
            <ac:spMk id="2" creationId="{428BB6BF-118E-1C3F-E38F-7EDBBB8D6311}"/>
          </ac:spMkLst>
        </pc:spChg>
        <pc:spChg chg="del">
          <ac:chgData name="Adarsh Shukla/HO/Retail &amp; Institutional Business/AMC" userId="S::adarsh.shukla@bajajamc.com::0f3eb383-2920-414c-80c9-12df0c190395" providerId="AD" clId="Web-{4CCCECA2-C81D-CBB1-5E35-FDF913C6DEC2}" dt="2026-01-05T07:21:08.500" v="3"/>
          <ac:spMkLst>
            <pc:docMk/>
            <pc:sldMk cId="1528911637" sldId="2563"/>
            <ac:spMk id="4" creationId="{FBD3ADD2-0993-A93A-936F-35C990FD73F6}"/>
          </ac:spMkLst>
        </pc:spChg>
        <pc:spChg chg="add del mod">
          <ac:chgData name="Adarsh Shukla/HO/Retail &amp; Institutional Business/AMC" userId="S::adarsh.shukla@bajajamc.com::0f3eb383-2920-414c-80c9-12df0c190395" providerId="AD" clId="Web-{4CCCECA2-C81D-CBB1-5E35-FDF913C6DEC2}" dt="2026-01-05T07:21:08.485" v="2"/>
          <ac:spMkLst>
            <pc:docMk/>
            <pc:sldMk cId="1528911637" sldId="2563"/>
            <ac:spMk id="6" creationId="{91915C4E-031D-2F48-BE59-0B1779135FD8}"/>
          </ac:spMkLst>
        </pc:spChg>
        <pc:spChg chg="add del mod">
          <ac:chgData name="Adarsh Shukla/HO/Retail &amp; Institutional Business/AMC" userId="S::adarsh.shukla@bajajamc.com::0f3eb383-2920-414c-80c9-12df0c190395" providerId="AD" clId="Web-{4CCCECA2-C81D-CBB1-5E35-FDF913C6DEC2}" dt="2026-01-05T07:21:44.079" v="6"/>
          <ac:spMkLst>
            <pc:docMk/>
            <pc:sldMk cId="1528911637" sldId="2563"/>
            <ac:spMk id="8" creationId="{DF4DB17C-FBC2-282C-BF8E-416C14F3B9B7}"/>
          </ac:spMkLst>
        </pc:spChg>
        <pc:spChg chg="add del mod">
          <ac:chgData name="Adarsh Shukla/HO/Retail &amp; Institutional Business/AMC" userId="S::adarsh.shukla@bajajamc.com::0f3eb383-2920-414c-80c9-12df0c190395" providerId="AD" clId="Web-{4CCCECA2-C81D-CBB1-5E35-FDF913C6DEC2}" dt="2026-01-05T07:21:28.063" v="5"/>
          <ac:spMkLst>
            <pc:docMk/>
            <pc:sldMk cId="1528911637" sldId="2563"/>
            <ac:spMk id="10" creationId="{9C672867-D39A-352A-59C7-807A33D75752}"/>
          </ac:spMkLst>
        </pc:spChg>
        <pc:picChg chg="del">
          <ac:chgData name="Adarsh Shukla/HO/Retail &amp; Institutional Business/AMC" userId="S::adarsh.shukla@bajajamc.com::0f3eb383-2920-414c-80c9-12df0c190395" providerId="AD" clId="Web-{4CCCECA2-C81D-CBB1-5E35-FDF913C6DEC2}" dt="2026-01-05T07:21:04.688" v="1"/>
          <ac:picMkLst>
            <pc:docMk/>
            <pc:sldMk cId="1528911637" sldId="2563"/>
            <ac:picMk id="5" creationId="{89150227-E3A6-4BED-85C3-2B83034771BA}"/>
          </ac:picMkLst>
        </pc:picChg>
        <pc:picChg chg="add del mod">
          <ac:chgData name="Adarsh Shukla/HO/Retail &amp; Institutional Business/AMC" userId="S::adarsh.shukla@bajajamc.com::0f3eb383-2920-414c-80c9-12df0c190395" providerId="AD" clId="Web-{4CCCECA2-C81D-CBB1-5E35-FDF913C6DEC2}" dt="2026-01-05T07:22:05.704" v="10"/>
          <ac:picMkLst>
            <pc:docMk/>
            <pc:sldMk cId="1528911637" sldId="2563"/>
            <ac:picMk id="11" creationId="{39064160-7E62-644A-7640-13A8E77B3FEF}"/>
          </ac:picMkLst>
        </pc:picChg>
        <pc:picChg chg="add mod">
          <ac:chgData name="Adarsh Shukla/HO/Retail &amp; Institutional Business/AMC" userId="S::adarsh.shukla@bajajamc.com::0f3eb383-2920-414c-80c9-12df0c190395" providerId="AD" clId="Web-{4CCCECA2-C81D-CBB1-5E35-FDF913C6DEC2}" dt="2026-01-05T07:22:47.954" v="15" actId="1076"/>
          <ac:picMkLst>
            <pc:docMk/>
            <pc:sldMk cId="1528911637" sldId="2563"/>
            <ac:picMk id="12" creationId="{7082636A-3F4F-9B66-D8E8-0838882595B0}"/>
          </ac:picMkLst>
        </pc:picChg>
      </pc:sldChg>
      <pc:sldChg chg="addSp delSp modSp">
        <pc:chgData name="Adarsh Shukla/HO/Retail &amp; Institutional Business/AMC" userId="S::adarsh.shukla@bajajamc.com::0f3eb383-2920-414c-80c9-12df0c190395" providerId="AD" clId="Web-{4CCCECA2-C81D-CBB1-5E35-FDF913C6DEC2}" dt="2026-01-05T07:22:47.438" v="14"/>
        <pc:sldMkLst>
          <pc:docMk/>
          <pc:sldMk cId="2423886464" sldId="2565"/>
        </pc:sldMkLst>
        <pc:spChg chg="add del mod">
          <ac:chgData name="Adarsh Shukla/HO/Retail &amp; Institutional Business/AMC" userId="S::adarsh.shukla@bajajamc.com::0f3eb383-2920-414c-80c9-12df0c190395" providerId="AD" clId="Web-{4CCCECA2-C81D-CBB1-5E35-FDF913C6DEC2}" dt="2026-01-05T07:22:47.438" v="14"/>
          <ac:spMkLst>
            <pc:docMk/>
            <pc:sldMk cId="2423886464" sldId="2565"/>
            <ac:spMk id="6" creationId="{F98733F9-B865-6F6C-BD96-43F8B3A5A7F0}"/>
          </ac:spMkLst>
        </pc:spChg>
        <pc:picChg chg="add del">
          <ac:chgData name="Adarsh Shukla/HO/Retail &amp; Institutional Business/AMC" userId="S::adarsh.shukla@bajajamc.com::0f3eb383-2920-414c-80c9-12df0c190395" providerId="AD" clId="Web-{4CCCECA2-C81D-CBB1-5E35-FDF913C6DEC2}" dt="2026-01-05T07:22:47.438" v="14"/>
          <ac:picMkLst>
            <pc:docMk/>
            <pc:sldMk cId="2423886464" sldId="2565"/>
            <ac:picMk id="5" creationId="{C6C5EF3F-CA7E-4C97-A4AE-3773EDBA721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Allocation %</c:v>
                </c:pt>
              </c:strCache>
            </c:strRef>
          </c:tx>
          <c:dPt>
            <c:idx val="0"/>
            <c:spPr>
              <a:solidFill>
                <a:srgbClr val="204E86"/>
              </a:solidFill>
            </c:spPr>
          </c:dPt>
          <c:dPt>
            <c:idx val="1"/>
            <c:spPr>
              <a:solidFill>
                <a:srgbClr val="22C55E"/>
              </a:solidFill>
            </c:spPr>
          </c:dPt>
          <c:dPt>
            <c:idx val="2"/>
            <c:spPr>
              <a:solidFill>
                <a:srgbClr val="808080"/>
              </a:solidFill>
            </c:spPr>
          </c:dPt>
          <c:cat>
            <c:strRef>
              <c:f>Sheet1!$A$2:$A$4</c:f>
              <c:strCache>
                <c:ptCount val="3"/>
                <c:pt idx="0">
                  <c:v>Equity</c:v>
                </c:pt>
                <c:pt idx="1">
                  <c:v>Hybrid</c:v>
                </c:pt>
                <c:pt idx="2">
                  <c:v>Debt</c:v>
                </c:pt>
              </c:strCache>
            </c:strRef>
          </c:cat>
          <c:val>
            <c:numRef>
              <c:f>Sheet1!$B$2:$B$4</c:f>
              <c:numCache>
                <c:formatCode>General</c:formatCode>
                <c:ptCount val="3"/>
                <c:pt idx="0">
                  <c:v>50</c:v>
                </c:pt>
                <c:pt idx="1">
                  <c:v>30</c:v>
                </c:pt>
                <c:pt idx="2">
                  <c:v>20</c:v>
                </c:pt>
              </c:numCache>
            </c:numRef>
          </c:val>
        </c:ser>
        <c:dLbls>
          <c:numFmt formatCode="0%" sourceLinked="0"/>
          <c:showLegendKey val="0"/>
          <c:showVal val="1"/>
          <c:showCatName val="1"/>
          <c:showSerName val="0"/>
          <c:showPercent val="1"/>
          <c:showBubbleSize val="0"/>
          <c:showLeaderLines val="1"/>
        </c:dLbls>
      </c:pieChart>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Asset Mix (Equity 50% / Hybrid 30% / Debt 20%)</a:t>
            </a:r>
          </a:p>
        </c:rich>
      </c:tx>
      <c:layout/>
      <c:overlay val="0"/>
    </c:title>
    <c:autoTitleDeleted val="0"/>
    <c:plotArea>
      <c:pieChart>
        <c:varyColors val="1"/>
        <c:ser>
          <c:idx val="0"/>
          <c:order val="0"/>
          <c:tx>
            <c:strRef>
              <c:f>Sheet1!$B$1</c:f>
              <c:strCache>
                <c:ptCount val="1"/>
                <c:pt idx="0">
                  <c:v>Allocation %</c:v>
                </c:pt>
              </c:strCache>
            </c:strRef>
          </c:tx>
          <c:cat>
            <c:strRef>
              <c:f>Sheet1!$A$2:$A$4</c:f>
              <c:strCache>
                <c:ptCount val="3"/>
                <c:pt idx="0">
                  <c:v>Equity</c:v>
                </c:pt>
                <c:pt idx="1">
                  <c:v>Hybrid</c:v>
                </c:pt>
                <c:pt idx="2">
                  <c:v>Debt</c:v>
                </c:pt>
              </c:strCache>
            </c:strRef>
          </c:cat>
          <c:val>
            <c:numRef>
              <c:f>Sheet1!$B$2:$B$4</c:f>
              <c:numCache>
                <c:formatCode>General</c:formatCode>
                <c:ptCount val="3"/>
                <c:pt idx="0">
                  <c:v>50</c:v>
                </c:pt>
                <c:pt idx="1">
                  <c:v>30</c:v>
                </c:pt>
                <c:pt idx="2">
                  <c:v>20</c:v>
                </c:pt>
              </c:numCache>
            </c:numRef>
          </c:val>
        </c:ser>
        <c:dLbls>
          <c:numFmt formatCode="0%" sourceLinked="0"/>
          <c:showLegendKey val="0"/>
          <c:showVal val="1"/>
          <c:showCatName val="1"/>
          <c:showSerName val="0"/>
          <c:showPercent val="1"/>
          <c:showBubbleSize val="0"/>
          <c:showLeaderLines val="1"/>
        </c:dLbls>
      </c:pieChart>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A0A3DE-FF9E-4A5A-B6D1-A553C4609493}" type="datetimeFigureOut">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B23EBB-E9E1-422D-9F81-E2EEA1B5E54D}" type="slidenum">
              <a:t>‹#›</a:t>
            </a:fld>
            <a:endParaRPr lang="en-US"/>
          </a:p>
        </p:txBody>
      </p:sp>
    </p:spTree>
    <p:extLst>
      <p:ext uri="{BB962C8B-B14F-4D97-AF65-F5344CB8AC3E}">
        <p14:creationId xmlns:p14="http://schemas.microsoft.com/office/powerpoint/2010/main" val="1548112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43BC2DC-C2A4-42A1-B823-5FEE4E1A4AC1}" type="slidenum">
              <a:t>1</a:t>
            </a:fld>
            <a:endParaRPr lang="en-US"/>
          </a:p>
        </p:txBody>
      </p:sp>
    </p:spTree>
    <p:extLst>
      <p:ext uri="{BB962C8B-B14F-4D97-AF65-F5344CB8AC3E}">
        <p14:creationId xmlns:p14="http://schemas.microsoft.com/office/powerpoint/2010/main" val="43345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investment proposal prepared for Shruti Suman by Adarsh Shukla. It includes the investor’s key details such as SIP amount of ₹30,000 per month, tenure of 3–5 years, and risk profile marked as Moderate with Balanced tolerance. The cover slide sets the professional tone of the presentation and provides the date of preparation (29 December 2025). It emphasizes that the proposal is tailored to the investor’s financial goals, liquidity preferences, and tax considerations, ensuring clarity and transparency from the outset.</a:t>
            </a:r>
          </a:p>
        </p:txBody>
      </p:sp>
      <p:sp>
        <p:nvSpPr>
          <p:cNvPr id="4" name="Slide Number Placeholder 3"/>
          <p:cNvSpPr>
            <a:spLocks noGrp="1"/>
          </p:cNvSpPr>
          <p:nvPr>
            <p:ph type="sldNum" sz="quarter" idx="5"/>
          </p:nvPr>
        </p:nvSpPr>
        <p:spPr/>
        <p:txBody>
          <a:bodyPr/>
          <a:lstStyle/>
          <a:p>
            <a:fld id="{243BC2DC-C2A4-42A1-B823-5FEE4E1A4AC1}" type="slidenum">
              <a:t>3</a:t>
            </a:fld>
            <a:endParaRPr lang="en-US"/>
          </a:p>
        </p:txBody>
      </p:sp>
    </p:spTree>
    <p:extLst>
      <p:ext uri="{BB962C8B-B14F-4D97-AF65-F5344CB8AC3E}">
        <p14:creationId xmlns:p14="http://schemas.microsoft.com/office/powerpoint/2010/main" val="1322490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Portfolio Structure and Allocation</a:t>
            </a:r>
          </a:p>
        </p:txBody>
      </p:sp>
      <p:sp>
        <p:nvSpPr>
          <p:cNvPr id="4" name="Slide Number Placeholder 3"/>
          <p:cNvSpPr>
            <a:spLocks noGrp="1"/>
          </p:cNvSpPr>
          <p:nvPr>
            <p:ph type="sldNum" sz="quarter" idx="5"/>
          </p:nvPr>
        </p:nvSpPr>
        <p:spPr/>
        <p:txBody>
          <a:bodyPr/>
          <a:lstStyle/>
          <a:p>
            <a:fld id="{243BC2DC-C2A4-42A1-B823-5FEE4E1A4AC1}" type="slidenum">
              <a:t>4</a:t>
            </a:fld>
            <a:endParaRPr lang="en-US"/>
          </a:p>
        </p:txBody>
      </p:sp>
    </p:spTree>
    <p:extLst>
      <p:ext uri="{BB962C8B-B14F-4D97-AF65-F5344CB8AC3E}">
        <p14:creationId xmlns:p14="http://schemas.microsoft.com/office/powerpoint/2010/main" val="2854560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the recommended asset mix based on the investor’s tenure and risk appetite: Equity 50%, Hybrid 30%, and Debt 20%. It lists all suggested funds with their respective weights and categories: Axis Liquid Fund – Direct Growth (Debt/Liquid) at 20%, ICICI Prudential Balanced Advantage Fund — Regular Growth (Hybrid/Dynamic AA) at 30%, Parag Parikh Flexi Cap Fund – Direct Growth (Equity/Flexi Cap) at 25%, and HDFC Mid‑Cap Fund – Direct Growth (Equity/Mid Cap) at 25%. This allocation strategy optimizes growth potential while mitigating volatility over the 3–5 year horizon. Each fund serves a distinct role: liquidity and stability, dynamic allocation, diversified equity exposure, and mid‑cap growth.</a:t>
            </a:r>
          </a:p>
        </p:txBody>
      </p:sp>
      <p:sp>
        <p:nvSpPr>
          <p:cNvPr id="4" name="Slide Number Placeholder 3"/>
          <p:cNvSpPr>
            <a:spLocks noGrp="1"/>
          </p:cNvSpPr>
          <p:nvPr>
            <p:ph type="sldNum" sz="quarter" idx="5"/>
          </p:nvPr>
        </p:nvSpPr>
        <p:spPr/>
        <p:txBody>
          <a:bodyPr/>
          <a:lstStyle/>
          <a:p>
            <a:fld id="{243BC2DC-C2A4-42A1-B823-5FEE4E1A4AC1}" type="slidenum">
              <a:t>5</a:t>
            </a:fld>
            <a:endParaRPr lang="en-US"/>
          </a:p>
        </p:txBody>
      </p:sp>
    </p:spTree>
    <p:extLst>
      <p:ext uri="{BB962C8B-B14F-4D97-AF65-F5344CB8AC3E}">
        <p14:creationId xmlns:p14="http://schemas.microsoft.com/office/powerpoint/2010/main" val="1914534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Axis Liquid Fund – Direct Growth, ICICI Prudential Balanced Advantage Fund — Regular Growth, Parag Parikh Flexi Cap Fund – Direct Growth, HDFC Mid‑Cap Fund – Direct Growth</a:t>
            </a:r>
          </a:p>
        </p:txBody>
      </p:sp>
      <p:sp>
        <p:nvSpPr>
          <p:cNvPr id="4" name="Slide Number Placeholder 3"/>
          <p:cNvSpPr>
            <a:spLocks noGrp="1"/>
          </p:cNvSpPr>
          <p:nvPr>
            <p:ph type="sldNum" sz="quarter" idx="5"/>
          </p:nvPr>
        </p:nvSpPr>
        <p:spPr/>
        <p:txBody>
          <a:bodyPr/>
          <a:lstStyle/>
          <a:p>
            <a:fld id="{243BC2DC-C2A4-42A1-B823-5FEE4E1A4AC1}" type="slidenum">
              <a:t>6</a:t>
            </a:fld>
            <a:endParaRPr lang="en-US"/>
          </a:p>
        </p:txBody>
      </p:sp>
    </p:spTree>
    <p:extLst>
      <p:ext uri="{BB962C8B-B14F-4D97-AF65-F5344CB8AC3E}">
        <p14:creationId xmlns:p14="http://schemas.microsoft.com/office/powerpoint/2010/main" val="3202437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detailed analysis of Axis Liquid Fund – Direct Growth. Key metrics include: 3Y CAGR (fund vs category): 7.08% vs 7.02%, Sharpe: 3.65, Beta: 0.38, Std. Dev.: ~0.80%, Exit‑load grid: day‑1 0.0070% → day‑7+ 0%, AUM: ₹37,357.87 Cr, Expense: 0.24% (Direct), Alpha: ~1.30, Riskometer: Low to Moderate. Rationale: High‑liquidity sleeve to ring‑fence near‑term obligations and reduce equity‑cycle risk. The table of metrics is formatted professionally with Calibri font, 12pt, and numeric values right-aligned for clarity.</a:t>
            </a:r>
          </a:p>
        </p:txBody>
      </p:sp>
      <p:sp>
        <p:nvSpPr>
          <p:cNvPr id="4" name="Slide Number Placeholder 3"/>
          <p:cNvSpPr>
            <a:spLocks noGrp="1"/>
          </p:cNvSpPr>
          <p:nvPr>
            <p:ph type="sldNum" sz="quarter" idx="5"/>
          </p:nvPr>
        </p:nvSpPr>
        <p:spPr/>
        <p:txBody>
          <a:bodyPr/>
          <a:lstStyle/>
          <a:p>
            <a:fld id="{243BC2DC-C2A4-42A1-B823-5FEE4E1A4AC1}" type="slidenum">
              <a:t>7</a:t>
            </a:fld>
            <a:endParaRPr lang="en-US"/>
          </a:p>
        </p:txBody>
      </p:sp>
    </p:spTree>
    <p:extLst>
      <p:ext uri="{BB962C8B-B14F-4D97-AF65-F5344CB8AC3E}">
        <p14:creationId xmlns:p14="http://schemas.microsoft.com/office/powerpoint/2010/main" val="560744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details ICICI Prudential Balanced Advantage Fund — Regular Growth. Metrics include: 3Y CAGR: 13.61% vs 11.96%, Sharpe: 1.19, Beta: 0.55, Std. Dev.: 5.46%, Exit‑load: &gt;30% units: 1% within 1 year, AUM: ₹69,868 Cr, Expense: 1.43% (Regular), Alpha: 3.06%, Riskometer: Very High. Rationale: Dynamic allocation moderates drawdowns; stabiliser for 3–5 yrs and balanced tolerance. The slide uses a fixed-height table for metrics and a bold italic rationale beneath the title.</a:t>
            </a:r>
          </a:p>
        </p:txBody>
      </p:sp>
      <p:sp>
        <p:nvSpPr>
          <p:cNvPr id="4" name="Slide Number Placeholder 3"/>
          <p:cNvSpPr>
            <a:spLocks noGrp="1"/>
          </p:cNvSpPr>
          <p:nvPr>
            <p:ph type="sldNum" sz="quarter" idx="5"/>
          </p:nvPr>
        </p:nvSpPr>
        <p:spPr/>
        <p:txBody>
          <a:bodyPr/>
          <a:lstStyle/>
          <a:p>
            <a:fld id="{243BC2DC-C2A4-42A1-B823-5FEE4E1A4AC1}" type="slidenum">
              <a:t>8</a:t>
            </a:fld>
            <a:endParaRPr lang="en-US"/>
          </a:p>
        </p:txBody>
      </p:sp>
    </p:spTree>
    <p:extLst>
      <p:ext uri="{BB962C8B-B14F-4D97-AF65-F5344CB8AC3E}">
        <p14:creationId xmlns:p14="http://schemas.microsoft.com/office/powerpoint/2010/main" val="3688912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covers Parag Parikh Flexi Cap Fund – Direct Growth. Metrics: 3Y CAGR: 23.06% vs 17.76%, Sharpe: 1.55, Beta: 0.57, Std. Dev.: 8.41%, Portfolio P/E: 20.62, Exit‑load: For units &gt;10%: 2% ≤365d; 1% 366–730d, AUM: ₹1,29,783 Cr, Expense: 0.63%, Alpha: 7.42%, Riskometer: Very High. Rationale: Core flexi‑cap with lower beta and strong risk‑adjusted profile vs category. The metrics table is styled with Calibri font and clear alignment for readability.</a:t>
            </a:r>
          </a:p>
        </p:txBody>
      </p:sp>
      <p:sp>
        <p:nvSpPr>
          <p:cNvPr id="4" name="Slide Number Placeholder 3"/>
          <p:cNvSpPr>
            <a:spLocks noGrp="1"/>
          </p:cNvSpPr>
          <p:nvPr>
            <p:ph type="sldNum" sz="quarter" idx="5"/>
          </p:nvPr>
        </p:nvSpPr>
        <p:spPr/>
        <p:txBody>
          <a:bodyPr/>
          <a:lstStyle/>
          <a:p>
            <a:fld id="{243BC2DC-C2A4-42A1-B823-5FEE4E1A4AC1}" type="slidenum">
              <a:t>9</a:t>
            </a:fld>
            <a:endParaRPr lang="en-US"/>
          </a:p>
        </p:txBody>
      </p:sp>
    </p:spTree>
    <p:extLst>
      <p:ext uri="{BB962C8B-B14F-4D97-AF65-F5344CB8AC3E}">
        <p14:creationId xmlns:p14="http://schemas.microsoft.com/office/powerpoint/2010/main" val="3379998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HDFC Mid‑Cap Fund – Direct Growth. Metrics: 3Y CAGR: 26.95% vs 24.74%, Sharpe: 1.316, Beta: 0.858, Std. Dev.: 13.847%, Exit‑load: 1% ≤365 days; Nil thereafter, AUM: ₹92,168.85 Cr, Expense: 1.36%, Alpha: 4.77%, Riskometer: Very High. Rationale: Quality‑biased mid‑cap engine; strong risk metrics; prudent sizing for 3–5 yr horizon. The slide maintains professional formatting with a fixed-height table and rationale in bold italic beneath the title.</a:t>
            </a:r>
          </a:p>
        </p:txBody>
      </p:sp>
      <p:sp>
        <p:nvSpPr>
          <p:cNvPr id="4" name="Slide Number Placeholder 3"/>
          <p:cNvSpPr>
            <a:spLocks noGrp="1"/>
          </p:cNvSpPr>
          <p:nvPr>
            <p:ph type="sldNum" sz="quarter" idx="5"/>
          </p:nvPr>
        </p:nvSpPr>
        <p:spPr/>
        <p:txBody>
          <a:bodyPr/>
          <a:lstStyle/>
          <a:p>
            <a:fld id="{243BC2DC-C2A4-42A1-B823-5FEE4E1A4AC1}" type="slidenum">
              <a:t>10</a:t>
            </a:fld>
            <a:endParaRPr lang="en-US"/>
          </a:p>
        </p:txBody>
      </p:sp>
    </p:spTree>
    <p:extLst>
      <p:ext uri="{BB962C8B-B14F-4D97-AF65-F5344CB8AC3E}">
        <p14:creationId xmlns:p14="http://schemas.microsoft.com/office/powerpoint/2010/main" val="4075922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Metrics and Regulatory Guidelines</a:t>
            </a:r>
          </a:p>
        </p:txBody>
      </p:sp>
      <p:sp>
        <p:nvSpPr>
          <p:cNvPr id="4" name="Slide Number Placeholder 3"/>
          <p:cNvSpPr>
            <a:spLocks noGrp="1"/>
          </p:cNvSpPr>
          <p:nvPr>
            <p:ph type="sldNum" sz="quarter" idx="5"/>
          </p:nvPr>
        </p:nvSpPr>
        <p:spPr/>
        <p:txBody>
          <a:bodyPr/>
          <a:lstStyle/>
          <a:p>
            <a:fld id="{243BC2DC-C2A4-42A1-B823-5FEE4E1A4AC1}" type="slidenum">
              <a:t>11</a:t>
            </a:fld>
            <a:endParaRPr lang="en-US"/>
          </a:p>
        </p:txBody>
      </p:sp>
    </p:spTree>
    <p:extLst>
      <p:ext uri="{BB962C8B-B14F-4D97-AF65-F5344CB8AC3E}">
        <p14:creationId xmlns:p14="http://schemas.microsoft.com/office/powerpoint/2010/main" val="1925499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educates the investor on critical performance and risk metrics used in fund evaluation. It explains Sharpe ratio (risk-adjusted returns), Beta (market sensitivity), and Standard deviation (volatility). Sortino ratio focuses on downside risk, while rolling returns assess consistency across time frames. The Riskometer categorizes funds from Low to Very High risk, ensuring alignment with investor profiles. Compliance notes highlight SEBI’s cap on exit loads at 3%, though scheme-specific grids apply. The slide concludes with a disclaimer: “Mutual fund investments are subject to market risks. Past performance may or may not be sustained.” All text is formatted in Calibri 12pt for clarity and professionalism.</a:t>
            </a:r>
          </a:p>
        </p:txBody>
      </p:sp>
      <p:sp>
        <p:nvSpPr>
          <p:cNvPr id="4" name="Slide Number Placeholder 3"/>
          <p:cNvSpPr>
            <a:spLocks noGrp="1"/>
          </p:cNvSpPr>
          <p:nvPr>
            <p:ph type="sldNum" sz="quarter" idx="5"/>
          </p:nvPr>
        </p:nvSpPr>
        <p:spPr/>
        <p:txBody>
          <a:bodyPr/>
          <a:lstStyle/>
          <a:p>
            <a:fld id="{243BC2DC-C2A4-42A1-B823-5FEE4E1A4AC1}" type="slidenum">
              <a:t>12</a:t>
            </a:fld>
            <a:endParaRPr lang="en-US"/>
          </a:p>
        </p:txBody>
      </p:sp>
    </p:spTree>
    <p:extLst>
      <p:ext uri="{BB962C8B-B14F-4D97-AF65-F5344CB8AC3E}">
        <p14:creationId xmlns:p14="http://schemas.microsoft.com/office/powerpoint/2010/main" val="3963237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2.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5.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1/4/2026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0.jpeg"/><Relationship Id="rId4" Type="http://schemas.openxmlformats.org/officeDocument/2006/relationships/image" Target="../media/image16.png"/><Relationship Id="rId5"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1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2.jpe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1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A33D-1ECE-6ADC-CED9-D4F4318E2B5B}"/>
              </a:ext>
            </a:extLst>
          </p:cNvPr>
          <p:cNvSpPr>
            <a:spLocks noGrp="1"/>
          </p:cNvSpPr>
          <p:nvPr>
            <p:ph type="ctrTitle"/>
          </p:nvPr>
        </p:nvSpPr>
        <p:spPr>
          <a:xfrm>
            <a:off x="7428950" y="284481"/>
            <a:ext cx="4458249" cy="4320310"/>
          </a:xfrm>
        </p:spPr>
        <p:txBody>
          <a:bodyPr anchor="t">
            <a:normAutofit/>
          </a:bodyPr>
          <a:lstStyle/>
          <a:p>
            <a:r>
              <a:rPr lang="en-US"/>
              <a:t>Investment Proposal for Shruti Suman</a:t>
            </a:r>
          </a:p>
        </p:txBody>
      </p:sp>
      <p:sp>
        <p:nvSpPr>
          <p:cNvPr id="3" name="Subtitle 2">
            <a:extLst>
              <a:ext uri="{FF2B5EF4-FFF2-40B4-BE49-F238E27FC236}">
                <a16:creationId xmlns:a16="http://schemas.microsoft.com/office/drawing/2014/main" id="{0CCED440-4C6C-269F-49E6-AEE9BB9F7D50}"/>
              </a:ext>
            </a:extLst>
          </p:cNvPr>
          <p:cNvSpPr>
            <a:spLocks noGrp="1"/>
          </p:cNvSpPr>
          <p:nvPr>
            <p:ph type="subTitle" idx="1"/>
          </p:nvPr>
        </p:nvSpPr>
        <p:spPr>
          <a:xfrm>
            <a:off x="7428950" y="4870174"/>
            <a:ext cx="3856735" cy="1033669"/>
          </a:xfrm>
        </p:spPr>
        <p:txBody>
          <a:bodyPr anchor="b">
            <a:normAutofit/>
          </a:bodyPr>
          <a:lstStyle/>
          <a:p>
            <a:r>
              <a:rPr lang="en-US"/>
              <a:t>Strategic plan to maximize growth opportunities</a:t>
            </a:r>
          </a:p>
        </p:txBody>
      </p:sp>
      <p:pic>
        <p:nvPicPr>
          <p:cNvPr id="4" name="Picture 3" descr="Business handshake">
            <a:extLst>
              <a:ext uri="{FF2B5EF4-FFF2-40B4-BE49-F238E27FC236}">
                <a16:creationId xmlns:a16="http://schemas.microsoft.com/office/drawing/2014/main" id="{77251077-5FEF-4A2B-85B6-040660749FC3}"/>
              </a:ext>
            </a:extLst>
          </p:cNvPr>
          <p:cNvPicPr>
            <a:picLocks noChangeAspect="1"/>
          </p:cNvPicPr>
          <p:nvPr/>
        </p:nvPicPr>
        <p:blipFill>
          <a:blip r:embed="rId3"/>
          <a:srcRect l="7890" r="22073" b="-1"/>
          <a:stretch>
            <a:fillRect/>
          </a:stretch>
        </p:blipFill>
        <p:spPr>
          <a:xfrm>
            <a:off x="20" y="10"/>
            <a:ext cx="7195655" cy="685799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p:spPr>
      </p:pic>
    </p:spTree>
    <p:extLst>
      <p:ext uri="{BB962C8B-B14F-4D97-AF65-F5344CB8AC3E}">
        <p14:creationId xmlns:p14="http://schemas.microsoft.com/office/powerpoint/2010/main" val="90822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082636A-3F4F-9B66-D8E8-0838882595B0}"/>
              </a:ext>
            </a:extLst>
          </p:cNvPr>
          <p:cNvPicPr>
            <a:picLocks noChangeAspect="1"/>
          </p:cNvPicPr>
          <p:nvPr/>
        </p:nvPicPr>
        <p:blipFill>
          <a:blip r:embed="rId3"/>
          <a:stretch>
            <a:fillRect/>
          </a:stretch>
        </p:blipFill>
        <p:spPr>
          <a:xfrm>
            <a:off x="107883" y="0"/>
            <a:ext cx="11976234" cy="6858000"/>
          </a:xfrm>
          <a:prstGeom prst="rect">
            <a:avLst/>
          </a:prstGeom>
        </p:spPr>
      </p:pic>
    </p:spTree>
    <p:extLst>
      <p:ext uri="{BB962C8B-B14F-4D97-AF65-F5344CB8AC3E}">
        <p14:creationId xmlns:p14="http://schemas.microsoft.com/office/powerpoint/2010/main" val="152891163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B7AC-ACAE-72A8-FA58-F65981713C32}"/>
              </a:ext>
            </a:extLst>
          </p:cNvPr>
          <p:cNvSpPr>
            <a:spLocks noGrp="1"/>
          </p:cNvSpPr>
          <p:nvPr>
            <p:ph type="title"/>
          </p:nvPr>
        </p:nvSpPr>
        <p:spPr>
          <a:xfrm>
            <a:off x="111758" y="1869103"/>
            <a:ext cx="9337042" cy="4906929"/>
          </a:xfrm>
        </p:spPr>
        <p:txBody>
          <a:bodyPr anchor="b">
            <a:normAutofit/>
          </a:bodyPr>
          <a:lstStyle/>
          <a:p>
            <a:r>
              <a:rPr lang="en-US"/>
              <a:t>Asset Mix &amp; Suggested Allocation</a:t>
            </a:r>
          </a:p>
        </p:txBody>
      </p:sp>
    </p:spTree>
    <p:extLst>
      <p:ext uri="{BB962C8B-B14F-4D97-AF65-F5344CB8AC3E}">
        <p14:creationId xmlns:p14="http://schemas.microsoft.com/office/powerpoint/2010/main" val="23467444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AD68F-2976-CCB3-2AA3-D46A457BC999}"/>
              </a:ext>
            </a:extLst>
          </p:cNvPr>
          <p:cNvSpPr>
            <a:spLocks noGrp="1"/>
          </p:cNvSpPr>
          <p:nvPr>
            <p:ph type="title"/>
          </p:nvPr>
        </p:nvSpPr>
        <p:spPr>
          <a:xfrm>
            <a:off x="7094553" y="423332"/>
            <a:ext cx="4477512" cy="1328932"/>
          </a:xfrm>
        </p:spPr>
        <p:txBody>
          <a:bodyPr anchor="b">
            <a:normAutofit/>
          </a:bodyPr>
          <a:lstStyle/>
          <a:p>
            <a:r>
              <a:rPr lang="en-US"/>
              <a:t>Portfolio Structure and Allocation</a:t>
            </a:r>
          </a:p>
        </p:txBody>
      </p:sp>
      <p:sp>
        <p:nvSpPr>
          <p:cNvPr id="4" name="Content Placeholder 3">
            <a:extLst>
              <a:ext uri="{FF2B5EF4-FFF2-40B4-BE49-F238E27FC236}">
                <a16:creationId xmlns:a16="http://schemas.microsoft.com/office/drawing/2014/main" id="{6C0DA7F5-9FF8-DEF5-789F-9E09C6E7CCE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Asset Mix Overview</a:t>
            </a:r>
          </a:p>
          <a:p>
            <a:pPr marL="0" lvl="1" indent="0">
              <a:buFont typeface="Arial" panose="020B0604020202020204" pitchFamily="34" charset="0"/>
              <a:buNone/>
            </a:pPr>
            <a:r>
              <a:t>Recommended portfolio allocation is 50% equity, 30% hybrid, and 20% debt based on tenure and risk appetite.</a:t>
            </a:r>
            <a:endParaRPr lang="en-US"/>
          </a:p>
          <a:p>
            <a:pPr marL="0" indent="0">
              <a:spcBef>
                <a:spcPts val="2500"/>
              </a:spcBef>
              <a:buFont typeface="Arial" panose="020B0604020202020204" pitchFamily="34" charset="0"/>
              <a:buNone/>
            </a:pPr>
            <a:r>
              <a:rPr lang="en-US" b="1"/>
              <a:t>Fund Details and Weighting</a:t>
            </a:r>
          </a:p>
          <a:p>
            <a:pPr marL="0" lvl="1" indent="0">
              <a:buFont typeface="Arial" panose="020B0604020202020204" pitchFamily="34" charset="0"/>
              <a:buNone/>
            </a:pPr>
            <a:r>
              <a:t>Suggested funds include Axis Liquid Fund (20%), ICICI Balanced Advantage Fund (30%), Parag Parikh Flexi Cap Fund (25%), and HDFC Mid-Cap Fund (25%).</a:t>
            </a:r>
            <a:endParaRPr lang="en-US"/>
          </a:p>
          <a:p>
            <a:pPr marL="0" indent="0">
              <a:spcBef>
                <a:spcPts val="2500"/>
              </a:spcBef>
              <a:buFont typeface="Arial" panose="020B0604020202020204" pitchFamily="34" charset="0"/>
              <a:buNone/>
            </a:pPr>
            <a:r>
              <a:rPr lang="en-US" b="1"/>
              <a:t>Investment Roles Explained</a:t>
            </a:r>
          </a:p>
          <a:p>
            <a:pPr marL="0" lvl="1" indent="0">
              <a:buFont typeface="Arial" panose="020B0604020202020204" pitchFamily="34" charset="0"/>
              <a:buNone/>
            </a:pPr>
            <a:r>
              <a:t>Funds provide liquidity and stability, dynamic allocation, diversified equity exposure, and mid-cap growth potential.</a:t>
            </a:r>
            <a:endParaRPr lang="en-US"/>
          </a:p>
        </p:txBody>
      </p:sp>
      <p:pic>
        <p:nvPicPr>
          <p:cNvPr id="10" name="Picture 9" descr="pie_chart.png"/>
          <p:cNvPicPr>
            <a:picLocks noChangeAspect="1"/>
          </p:cNvPicPr>
          <p:nvPr/>
        </p:nvPicPr>
        <p:blipFill>
          <a:blip r:embed="rId4"/>
          <a:stretch>
            <a:fillRect/>
          </a:stretch>
        </p:blipFill>
        <p:spPr>
          <a:xfrm>
            <a:off x="914400" y="1828800"/>
            <a:ext cx="3657600" cy="2743200"/>
          </a:xfrm>
          <a:prstGeom prst="rect">
            <a:avLst/>
          </a:prstGeom>
        </p:spPr>
      </p:pic>
      <p:graphicFrame>
        <p:nvGraphicFramePr>
          <p:cNvPr id="11" name="Chart 10"/>
          <p:cNvGraphicFramePr>
            <a:graphicFrameLocks noGrp="1"/>
          </p:cNvGraphicFramePr>
          <p:nvPr/>
        </p:nvGraphicFramePr>
        <p:xfrm>
          <a:off x="722376" y="2176272"/>
          <a:ext cx="4562856" cy="3959352"/>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2423886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64564-63FE-A45C-9B59-55CB18FA6278}"/>
              </a:ext>
            </a:extLst>
          </p:cNvPr>
          <p:cNvSpPr>
            <a:spLocks noGrp="1"/>
          </p:cNvSpPr>
          <p:nvPr>
            <p:ph type="title"/>
          </p:nvPr>
        </p:nvSpPr>
        <p:spPr>
          <a:xfrm>
            <a:off x="111758" y="1869103"/>
            <a:ext cx="9337042" cy="4906929"/>
          </a:xfrm>
        </p:spPr>
        <p:txBody>
          <a:bodyPr anchor="b">
            <a:normAutofit/>
          </a:bodyPr>
          <a:lstStyle/>
          <a:p>
            <a:r>
              <a:rPr lang="en-US"/>
              <a:t>Fund Analysis Slides</a:t>
            </a:r>
          </a:p>
        </p:txBody>
      </p:sp>
    </p:spTree>
    <p:extLst>
      <p:ext uri="{BB962C8B-B14F-4D97-AF65-F5344CB8AC3E}">
        <p14:creationId xmlns:p14="http://schemas.microsoft.com/office/powerpoint/2010/main" val="992377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53194-2407-AEA5-4A84-169C95014DBD}"/>
              </a:ext>
            </a:extLst>
          </p:cNvPr>
          <p:cNvSpPr>
            <a:spLocks noGrp="1"/>
          </p:cNvSpPr>
          <p:nvPr>
            <p:ph type="title"/>
          </p:nvPr>
        </p:nvSpPr>
        <p:spPr>
          <a:xfrm>
            <a:off x="612648" y="706802"/>
            <a:ext cx="4672584" cy="1269482"/>
          </a:xfrm>
        </p:spPr>
        <p:txBody>
          <a:bodyPr anchor="t">
            <a:normAutofit/>
          </a:bodyPr>
          <a:lstStyle/>
          <a:p>
            <a:r>
              <a:rPr lang="en-US"/>
              <a:t>Axis Liquid Fund – Direct Growth</a:t>
            </a:r>
          </a:p>
        </p:txBody>
      </p:sp>
      <p:pic>
        <p:nvPicPr>
          <p:cNvPr id="5" name="Content Placeholder 4" descr="Spreadsheet and calculator">
            <a:extLst>
              <a:ext uri="{FF2B5EF4-FFF2-40B4-BE49-F238E27FC236}">
                <a16:creationId xmlns:a16="http://schemas.microsoft.com/office/drawing/2014/main" id="{E842327E-346A-4D74-951B-C74DD2FA2304}"/>
              </a:ext>
            </a:extLst>
          </p:cNvPr>
          <p:cNvPicPr>
            <a:picLocks noGrp="1" noChangeAspect="1"/>
          </p:cNvPicPr>
          <p:nvPr>
            <p:ph type="pic" sz="quarter" idx="13"/>
          </p:nvPr>
        </p:nvPicPr>
        <p:blipFill>
          <a:blip r:embed="rId3"/>
          <a:stretch/>
        </p:blipFill>
        <p:spPr>
          <a:xfrm>
            <a:off x="720468" y="2632201"/>
            <a:ext cx="4564763" cy="3046980"/>
          </a:xfrm>
        </p:spPr>
      </p:pic>
      <p:sp>
        <p:nvSpPr>
          <p:cNvPr id="4" name="Content Placeholder 3">
            <a:extLst>
              <a:ext uri="{FF2B5EF4-FFF2-40B4-BE49-F238E27FC236}">
                <a16:creationId xmlns:a16="http://schemas.microsoft.com/office/drawing/2014/main" id="{84A02BBE-DAD8-9DE1-2CA2-283786E205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Fund Performance Metrics</a:t>
            </a:r>
          </a:p>
          <a:p>
            <a:pPr marL="0" lvl="1" indent="0">
              <a:buFont typeface="Arial" panose="020B0604020202020204" pitchFamily="34" charset="0"/>
              <a:buNone/>
            </a:pPr>
            <a:r>
              <a:t>The fund's 3-year CAGR is 7.08%, slightly outperforming the category at 7.02%, indicating consistent returns.</a:t>
            </a:r>
            <a:endParaRPr lang="en-US"/>
          </a:p>
          <a:p>
            <a:pPr marL="0" indent="0">
              <a:spcBef>
                <a:spcPts val="2500"/>
              </a:spcBef>
              <a:buFont typeface="Arial" panose="020B0604020202020204" pitchFamily="34" charset="0"/>
              <a:buNone/>
            </a:pPr>
            <a:r>
              <a:rPr lang="en-US" b="1"/>
              <a:t>Risk and Volatility Indicators</a:t>
            </a:r>
          </a:p>
          <a:p>
            <a:pPr marL="0" lvl="1" indent="0">
              <a:buFont typeface="Arial" panose="020B0604020202020204" pitchFamily="34" charset="0"/>
              <a:buNone/>
            </a:pPr>
            <a:r>
              <a:t>Beta of 0.38 and standard deviation around 0.80% reflect low volatility and moderate risk for investors.</a:t>
            </a:r>
            <a:endParaRPr lang="en-US"/>
          </a:p>
          <a:p>
            <a:pPr marL="0" indent="0">
              <a:spcBef>
                <a:spcPts val="2500"/>
              </a:spcBef>
              <a:buFont typeface="Arial" panose="020B0604020202020204" pitchFamily="34" charset="0"/>
              <a:buNone/>
            </a:pPr>
            <a:r>
              <a:rPr lang="en-US" b="1"/>
              <a:t>Liquidity and Expense Profile</a:t>
            </a:r>
          </a:p>
          <a:p>
            <a:pPr marL="0" lvl="1" indent="0">
              <a:buFont typeface="Arial" panose="020B0604020202020204" pitchFamily="34" charset="0"/>
              <a:buNone/>
            </a:pPr>
            <a:r>
              <a:t>High liquidity with exit-load reducing to zero after day 7 and low expense ratio of 0.24% enhance investor appeal.</a:t>
            </a:r>
            <a:endParaRPr lang="en-US"/>
          </a:p>
          <a:p>
            <a:pPr marL="0" indent="0">
              <a:spcBef>
                <a:spcPts val="2500"/>
              </a:spcBef>
              <a:buFont typeface="Arial" panose="020B0604020202020204" pitchFamily="34" charset="0"/>
              <a:buNone/>
            </a:pPr>
            <a:r>
              <a:rPr lang="en-US" b="1"/>
              <a:t>Investment Rationale</a:t>
            </a:r>
          </a:p>
          <a:p>
            <a:pPr marL="0" lvl="1" indent="0">
              <a:buFont typeface="Arial" panose="020B0604020202020204" pitchFamily="34" charset="0"/>
              <a:buNone/>
            </a:pPr>
            <a:r>
              <a:t>Designed as a high-liquidity sleeve to protect near-term obligations and mitigate equity-cycle risk effectively.</a:t>
            </a:r>
            <a:endParaRPr lang="en-US"/>
          </a:p>
        </p:txBody>
      </p:sp>
    </p:spTree>
    <p:extLst>
      <p:ext uri="{BB962C8B-B14F-4D97-AF65-F5344CB8AC3E}">
        <p14:creationId xmlns:p14="http://schemas.microsoft.com/office/powerpoint/2010/main" val="3824509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62DE2-E0DF-52B7-798E-1F642CAACEF6}"/>
              </a:ext>
            </a:extLst>
          </p:cNvPr>
          <p:cNvSpPr>
            <a:spLocks noGrp="1"/>
          </p:cNvSpPr>
          <p:nvPr>
            <p:ph type="title"/>
          </p:nvPr>
        </p:nvSpPr>
        <p:spPr>
          <a:xfrm>
            <a:off x="7094553" y="423332"/>
            <a:ext cx="4477512" cy="1328932"/>
          </a:xfrm>
        </p:spPr>
        <p:txBody>
          <a:bodyPr anchor="b">
            <a:normAutofit/>
          </a:bodyPr>
          <a:lstStyle/>
          <a:p>
            <a:r>
              <a:rPr lang="en-US"/>
              <a:t>ICICI Prudential Balanced Advantage Fund — Regular Growth</a:t>
            </a:r>
          </a:p>
        </p:txBody>
      </p:sp>
      <p:sp>
        <p:nvSpPr>
          <p:cNvPr id="4" name="Content Placeholder 3">
            <a:extLst>
              <a:ext uri="{FF2B5EF4-FFF2-40B4-BE49-F238E27FC236}">
                <a16:creationId xmlns:a16="http://schemas.microsoft.com/office/drawing/2014/main" id="{8310FD2C-C214-7C32-1FDD-9DA9322CBB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spcBef>
                <a:spcPts val="2500"/>
              </a:spcBef>
              <a:buFont typeface="Arial" panose="020B0604020202020204" pitchFamily="34" charset="0"/>
              <a:buNone/>
            </a:pPr>
            <a:r>
              <a:rPr lang="en-US" b="1"/>
              <a:t>Fund Performance Metrics</a:t>
            </a:r>
          </a:p>
          <a:p>
            <a:pPr marL="0" lvl="1" indent="0">
              <a:buFont typeface="Arial" panose="020B0604020202020204" pitchFamily="34" charset="0"/>
              <a:buNone/>
            </a:pPr>
            <a:r>
              <a:t>The fund shows a strong 3-year CAGR of 13.61% and a Sharpe ratio of 1.19 indicating good risk-adjusted returns.</a:t>
            </a:r>
            <a:endParaRPr lang="en-US"/>
          </a:p>
          <a:p>
            <a:pPr marL="0" indent="0">
              <a:spcBef>
                <a:spcPts val="2500"/>
              </a:spcBef>
              <a:buFont typeface="Arial" panose="020B0604020202020204" pitchFamily="34" charset="0"/>
              <a:buNone/>
            </a:pPr>
            <a:r>
              <a:rPr lang="en-US" b="1"/>
              <a:t>Risk and Volatility</a:t>
            </a:r>
          </a:p>
          <a:p>
            <a:pPr marL="0" lvl="1" indent="0">
              <a:buFont typeface="Arial" panose="020B0604020202020204" pitchFamily="34" charset="0"/>
              <a:buNone/>
            </a:pPr>
            <a:r>
              <a:t>With a beta of 0.55 and standard deviation of 5.46%, the fund has moderate volatility and a 'Very High' riskometer rating.</a:t>
            </a:r>
            <a:endParaRPr lang="en-US"/>
          </a:p>
          <a:p>
            <a:pPr marL="0" indent="0">
              <a:spcBef>
                <a:spcPts val="2500"/>
              </a:spcBef>
              <a:buFont typeface="Arial" panose="020B0604020202020204" pitchFamily="34" charset="0"/>
              <a:buNone/>
            </a:pPr>
            <a:r>
              <a:rPr lang="en-US" b="1"/>
              <a:t>Investment Strategy Rationale</a:t>
            </a:r>
          </a:p>
          <a:p>
            <a:pPr marL="0" lvl="1" indent="0">
              <a:buFont typeface="Arial" panose="020B0604020202020204" pitchFamily="34" charset="0"/>
              <a:buNone/>
            </a:pPr>
            <a:r>
              <a:t>Dynamic allocation moderates drawdowns and serves as a stabilizer for investors over 3 to 5 years with balanced risk tolerance.</a:t>
            </a:r>
            <a:endParaRPr lang="en-US"/>
          </a:p>
        </p:txBody>
      </p:sp>
      <p:pic>
        <p:nvPicPr>
          <p:cNvPr id="10" name="Picture 9" descr="pro_banner.png"/>
          <p:cNvPicPr>
            <a:picLocks noChangeAspect="1"/>
          </p:cNvPicPr>
          <p:nvPr/>
        </p:nvPicPr>
        <p:blipFill>
          <a:blip r:embed="rId4"/>
          <a:stretch>
            <a:fillRect/>
          </a:stretch>
        </p:blipFill>
        <p:spPr>
          <a:xfrm>
            <a:off x="722376" y="2176272"/>
            <a:ext cx="4562856" cy="3959352"/>
          </a:xfrm>
          <a:prstGeom prst="rect">
            <a:avLst/>
          </a:prstGeom>
        </p:spPr>
      </p:pic>
      <p:pic>
        <p:nvPicPr>
          <p:cNvPr id="11" name="Picture 10" descr="image.jpg"/>
          <p:cNvPicPr>
            <a:picLocks noChangeAspect="1"/>
          </p:cNvPicPr>
          <p:nvPr/>
        </p:nvPicPr>
        <p:blipFill>
          <a:blip r:embed="rId4"/>
          <a:stretch>
            <a:fillRect/>
          </a:stretch>
        </p:blipFill>
        <p:spPr>
          <a:xfrm>
            <a:off x="228600" y="1447800"/>
            <a:ext cx="5943600" cy="3962400"/>
          </a:xfrm>
          <a:prstGeom prst="rect">
            <a:avLst/>
          </a:prstGeom>
        </p:spPr>
      </p:pic>
    </p:spTree>
    <p:extLst>
      <p:ext uri="{BB962C8B-B14F-4D97-AF65-F5344CB8AC3E}">
        <p14:creationId xmlns:p14="http://schemas.microsoft.com/office/powerpoint/2010/main" val="3350493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B7B86-99B6-0D41-582B-045D8B450887}"/>
              </a:ext>
            </a:extLst>
          </p:cNvPr>
          <p:cNvSpPr>
            <a:spLocks noGrp="1"/>
          </p:cNvSpPr>
          <p:nvPr>
            <p:ph type="title"/>
          </p:nvPr>
        </p:nvSpPr>
        <p:spPr>
          <a:xfrm>
            <a:off x="612648" y="706802"/>
            <a:ext cx="4672584" cy="1269482"/>
          </a:xfrm>
        </p:spPr>
        <p:txBody>
          <a:bodyPr anchor="t">
            <a:normAutofit/>
          </a:bodyPr>
          <a:lstStyle/>
          <a:p>
            <a:r>
              <a:rPr lang="en-US"/>
              <a:t>Parag Parikh Flexi Cap Fund – Direct Growth</a:t>
            </a:r>
          </a:p>
        </p:txBody>
      </p:sp>
      <p:pic>
        <p:nvPicPr>
          <p:cNvPr id="5" name="Content Placeholder 4" descr="Blurred financial stock market data and graph">
            <a:extLst>
              <a:ext uri="{FF2B5EF4-FFF2-40B4-BE49-F238E27FC236}">
                <a16:creationId xmlns:a16="http://schemas.microsoft.com/office/drawing/2014/main" id="{B830F9A1-7B2A-489D-BDF4-00588F3EDC6A}"/>
              </a:ext>
            </a:extLst>
          </p:cNvPr>
          <p:cNvPicPr>
            <a:picLocks noGrp="1" noChangeAspect="1"/>
          </p:cNvPicPr>
          <p:nvPr>
            <p:ph type="pic" sz="quarter" idx="13"/>
          </p:nvPr>
        </p:nvPicPr>
        <p:blipFill>
          <a:blip r:embed="rId3"/>
          <a:srcRect l="20221" r="1754" b="-1"/>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2A700C05-92E4-6937-953E-8988C271FF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Strong Growth Performance</a:t>
            </a:r>
          </a:p>
          <a:p>
            <a:pPr marL="0" lvl="1" indent="0">
              <a:buFont typeface="Arial" panose="020B0604020202020204" pitchFamily="34" charset="0"/>
              <a:buNone/>
            </a:pPr>
            <a:r>
              <a:t>The fund's 3-year CAGR is 23.06%, outperforming the category average of 17.76%, indicating robust returns.</a:t>
            </a:r>
            <a:endParaRPr lang="en-US"/>
          </a:p>
          <a:p>
            <a:pPr marL="0" indent="0">
              <a:spcBef>
                <a:spcPts val="2500"/>
              </a:spcBef>
              <a:buFont typeface="Arial" panose="020B0604020202020204" pitchFamily="34" charset="0"/>
              <a:buNone/>
            </a:pPr>
            <a:r>
              <a:rPr lang="en-US" b="1"/>
              <a:t>Risk and Volatility Measures</a:t>
            </a:r>
          </a:p>
          <a:p>
            <a:pPr marL="0" lvl="1" indent="0">
              <a:buFont typeface="Arial" panose="020B0604020202020204" pitchFamily="34" charset="0"/>
              <a:buNone/>
            </a:pPr>
            <a:r>
              <a:t>With a Beta of 0.57 and Std. Dev. of 8.41%, the fund exhibits lower volatility and balanced risk compared to peers.</a:t>
            </a:r>
            <a:endParaRPr lang="en-US"/>
          </a:p>
          <a:p>
            <a:pPr marL="0" indent="0">
              <a:spcBef>
                <a:spcPts val="2500"/>
              </a:spcBef>
              <a:buFont typeface="Arial" panose="020B0604020202020204" pitchFamily="34" charset="0"/>
              <a:buNone/>
            </a:pPr>
            <a:r>
              <a:rPr lang="en-US" b="1"/>
              <a:t>Fund Expense and AUM</a:t>
            </a:r>
          </a:p>
          <a:p>
            <a:pPr marL="0" lvl="1" indent="0">
              <a:buFont typeface="Arial" panose="020B0604020202020204" pitchFamily="34" charset="0"/>
              <a:buNone/>
            </a:pPr>
            <a:r>
              <a:t>Expense ratio stands at 0.63% with assets under management totaling ₹1,29,783 Cr, reflecting significant market presence.</a:t>
            </a:r>
            <a:endParaRPr lang="en-US"/>
          </a:p>
          <a:p>
            <a:pPr marL="0" indent="0">
              <a:spcBef>
                <a:spcPts val="2500"/>
              </a:spcBef>
              <a:buFont typeface="Arial" panose="020B0604020202020204" pitchFamily="34" charset="0"/>
              <a:buNone/>
            </a:pPr>
            <a:r>
              <a:rPr lang="en-US" b="1"/>
              <a:t>Investment Rationale</a:t>
            </a:r>
          </a:p>
          <a:p>
            <a:pPr marL="0" lvl="1" indent="0">
              <a:buFont typeface="Arial" panose="020B0604020202020204" pitchFamily="34" charset="0"/>
              <a:buNone/>
            </a:pPr>
            <a:r>
              <a:t>The fund is a core flexi-cap option with a strong risk-adjusted profile and very high riskometer rating.</a:t>
            </a:r>
            <a:endParaRPr lang="en-US"/>
          </a:p>
        </p:txBody>
      </p:sp>
    </p:spTree>
    <p:extLst>
      <p:ext uri="{BB962C8B-B14F-4D97-AF65-F5344CB8AC3E}">
        <p14:creationId xmlns:p14="http://schemas.microsoft.com/office/powerpoint/2010/main" val="2172631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7040-633E-F8BF-82F8-00F45F7D0CF5}"/>
              </a:ext>
            </a:extLst>
          </p:cNvPr>
          <p:cNvSpPr>
            <a:spLocks noGrp="1"/>
          </p:cNvSpPr>
          <p:nvPr>
            <p:ph type="title"/>
          </p:nvPr>
        </p:nvSpPr>
        <p:spPr>
          <a:xfrm>
            <a:off x="612647" y="475488"/>
            <a:ext cx="6858000" cy="932688"/>
          </a:xfrm>
        </p:spPr>
        <p:txBody>
          <a:bodyPr anchor="b">
            <a:normAutofit/>
          </a:bodyPr>
          <a:lstStyle/>
          <a:p>
            <a:r>
              <a:rPr lang="en-US"/>
              <a:t>HDFC Mid‑Cap Fund – Direct Growth</a:t>
            </a:r>
          </a:p>
        </p:txBody>
      </p:sp>
      <p:sp>
        <p:nvSpPr>
          <p:cNvPr id="4" name="Content Placeholder 3">
            <a:extLst>
              <a:ext uri="{FF2B5EF4-FFF2-40B4-BE49-F238E27FC236}">
                <a16:creationId xmlns:a16="http://schemas.microsoft.com/office/drawing/2014/main" id="{A6FF2E3C-CB6E-4A82-A8C2-7AEC3AA6626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Fund Performance Metrics</a:t>
            </a:r>
          </a:p>
          <a:p>
            <a:pPr marL="0" lvl="1" indent="0">
              <a:buFont typeface="Arial" panose="020B0604020202020204" pitchFamily="34" charset="0"/>
              <a:buNone/>
            </a:pPr>
            <a:r>
              <a:t>HDFC Mid-Cap Fund delivers a strong 3-year CAGR of 26.95%, outperforming benchmark returns.</a:t>
            </a:r>
            <a:endParaRPr lang="en-US"/>
          </a:p>
          <a:p>
            <a:pPr marL="0" indent="0">
              <a:spcBef>
                <a:spcPts val="2500"/>
              </a:spcBef>
              <a:buFont typeface="Arial" panose="020B0604020202020204" pitchFamily="34" charset="0"/>
              <a:buNone/>
            </a:pPr>
            <a:r>
              <a:rPr lang="en-US" b="1"/>
              <a:t>Risk and Volatility Measures</a:t>
            </a:r>
          </a:p>
          <a:p>
            <a:pPr marL="0" lvl="1" indent="0">
              <a:buFont typeface="Arial" panose="020B0604020202020204" pitchFamily="34" charset="0"/>
              <a:buNone/>
            </a:pPr>
            <a:r>
              <a:t>The fund shows favorable risk metrics including Sharpe ratio of 1.316 and Beta of 0.858, indicating balanced risk.</a:t>
            </a:r>
            <a:endParaRPr lang="en-US"/>
          </a:p>
          <a:p>
            <a:pPr marL="0" indent="0">
              <a:spcBef>
                <a:spcPts val="2500"/>
              </a:spcBef>
              <a:buFont typeface="Arial" panose="020B0604020202020204" pitchFamily="34" charset="0"/>
              <a:buNone/>
            </a:pPr>
            <a:r>
              <a:rPr lang="en-US" b="1"/>
              <a:t>Fund Size and Expenses</a:t>
            </a:r>
          </a:p>
          <a:p>
            <a:pPr marL="0" lvl="1" indent="0">
              <a:buFont typeface="Arial" panose="020B0604020202020204" pitchFamily="34" charset="0"/>
              <a:buNone/>
            </a:pPr>
            <a:r>
              <a:t>With an AUM of ₹92,168.85 Cr and expense ratio of 1.36%, the fund offers scale with reasonable costs.</a:t>
            </a:r>
            <a:endParaRPr lang="en-US"/>
          </a:p>
          <a:p>
            <a:pPr marL="0" indent="0">
              <a:spcBef>
                <a:spcPts val="2500"/>
              </a:spcBef>
              <a:buFont typeface="Arial" panose="020B0604020202020204" pitchFamily="34" charset="0"/>
              <a:buNone/>
            </a:pPr>
            <a:r>
              <a:rPr lang="en-US" b="1"/>
              <a:t>Investment Rationale</a:t>
            </a:r>
          </a:p>
          <a:p>
            <a:pPr marL="0" lvl="1" indent="0">
              <a:buFont typeface="Arial" panose="020B0604020202020204" pitchFamily="34" charset="0"/>
              <a:buNone/>
            </a:pPr>
            <a:r>
              <a:t>Quality-biased mid-cap strategy with prudent sizing, suitable for a 3 to 5 year investment horizon.</a:t>
            </a:r>
            <a:endParaRPr lang="en-US"/>
          </a:p>
        </p:txBody>
      </p:sp>
      <p:pic>
        <p:nvPicPr>
          <p:cNvPr id="5" name="Content Placeholder 4" descr="display stock information on LED screen">
            <a:extLst>
              <a:ext uri="{FF2B5EF4-FFF2-40B4-BE49-F238E27FC236}">
                <a16:creationId xmlns:a16="http://schemas.microsoft.com/office/drawing/2014/main" id="{7EB37F37-46EA-4CCA-B609-0FF72E804FE6}"/>
              </a:ext>
            </a:extLst>
          </p:cNvPr>
          <p:cNvPicPr>
            <a:picLocks noGrp="1" noChangeAspect="1"/>
          </p:cNvPicPr>
          <p:nvPr>
            <p:ph type="pic" sz="quarter" idx="13"/>
          </p:nvPr>
        </p:nvPicPr>
        <p:blipFill>
          <a:blip r:embed="rId3"/>
          <a:srcRect l="55095" r="4996" b="-1"/>
          <a:stretch>
            <a:fillRect/>
          </a:stretch>
        </p:blipFill>
        <p:spPr>
          <a:xfrm>
            <a:off x="8091732" y="10"/>
            <a:ext cx="4100267" cy="6857990"/>
          </a:xfrm>
        </p:spPr>
      </p:pic>
    </p:spTree>
    <p:extLst>
      <p:ext uri="{BB962C8B-B14F-4D97-AF65-F5344CB8AC3E}">
        <p14:creationId xmlns:p14="http://schemas.microsoft.com/office/powerpoint/2010/main" val="18269727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D25FC-18B4-9043-3D7D-20C557D9E1C3}"/>
              </a:ext>
            </a:extLst>
          </p:cNvPr>
          <p:cNvSpPr>
            <a:spLocks noGrp="1"/>
          </p:cNvSpPr>
          <p:nvPr>
            <p:ph type="title"/>
          </p:nvPr>
        </p:nvSpPr>
        <p:spPr>
          <a:xfrm>
            <a:off x="111758" y="1869103"/>
            <a:ext cx="9337042" cy="4906929"/>
          </a:xfrm>
        </p:spPr>
        <p:txBody>
          <a:bodyPr anchor="b">
            <a:normAutofit/>
          </a:bodyPr>
          <a:lstStyle/>
          <a:p>
            <a:r>
              <a:rPr lang="en-US"/>
              <a:t>Key Metrics &amp; Compliance Notes</a:t>
            </a:r>
          </a:p>
        </p:txBody>
      </p:sp>
    </p:spTree>
    <p:extLst>
      <p:ext uri="{BB962C8B-B14F-4D97-AF65-F5344CB8AC3E}">
        <p14:creationId xmlns:p14="http://schemas.microsoft.com/office/powerpoint/2010/main" val="2376384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a:solidFill>
                  <a:srgbClr val="000000"/>
                </a:solidFill>
                <a:latin typeface="Calibri"/>
              </a:rPr>
              <a:t>Key metrics of all funds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463040"/>
          <a:ext cx="8229600" cy="475488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679268">
                <a:tc>
                  <a:txBody>
                    <a:bodyPr/>
                    <a:lstStyle/>
                    <a:p>
                      <a:pPr>
                        <a:defRPr b="1" sz="1200"/>
                      </a:pPr>
                      <a:r>
                        <a:t>Metrics related to funds</a:t>
                      </a:r>
                    </a:p>
                  </a:txBody>
                  <a:tcPr/>
                </a:tc>
                <a:tc>
                  <a:txBody>
                    <a:bodyPr/>
                    <a:lstStyle/>
                    <a:p>
                      <a:pPr>
                        <a:defRPr b="1" sz="1200"/>
                      </a:pPr>
                      <a:r>
                        <a:t>Axis Liquid Fund – Direct</a:t>
                      </a:r>
                    </a:p>
                  </a:txBody>
                  <a:tcPr/>
                </a:tc>
                <a:tc>
                  <a:txBody>
                    <a:bodyPr/>
                    <a:lstStyle/>
                    <a:p>
                      <a:pPr>
                        <a:defRPr b="1" sz="1200"/>
                      </a:pPr>
                      <a:r>
                        <a:t>ICICI Prudential BAF – Regular</a:t>
                      </a:r>
                    </a:p>
                  </a:txBody>
                  <a:tcPr/>
                </a:tc>
                <a:tc>
                  <a:txBody>
                    <a:bodyPr/>
                    <a:lstStyle/>
                    <a:p>
                      <a:pPr>
                        <a:defRPr b="1" sz="1200"/>
                      </a:pPr>
                      <a:r>
                        <a:t>Parag Parikh Flexi Cap – Direct</a:t>
                      </a:r>
                    </a:p>
                  </a:txBody>
                  <a:tcPr/>
                </a:tc>
                <a:tc>
                  <a:txBody>
                    <a:bodyPr/>
                    <a:lstStyle/>
                    <a:p>
                      <a:pPr>
                        <a:defRPr b="1" sz="1200"/>
                      </a:pPr>
                      <a:r>
                        <a:t>HDFC Mid‑Cap – Direct</a:t>
                      </a:r>
                    </a:p>
                  </a:txBody>
                  <a:tcPr/>
                </a:tc>
              </a:tr>
              <a:tr h="679268">
                <a:tc>
                  <a:txBody>
                    <a:bodyPr/>
                    <a:lstStyle/>
                    <a:p>
                      <a:r>
                        <a:t>**CAGR (3Y)**</a:t>
                      </a:r>
                    </a:p>
                  </a:txBody>
                  <a:tcPr/>
                </a:tc>
                <a:tc>
                  <a:txBody>
                    <a:bodyPr/>
                    <a:lstStyle/>
                    <a:p>
                      <a:r>
                        <a:t>7.08%</a:t>
                      </a:r>
                    </a:p>
                  </a:txBody>
                  <a:tcPr/>
                </a:tc>
                <a:tc>
                  <a:txBody>
                    <a:bodyPr/>
                    <a:lstStyle/>
                    <a:p>
                      <a:r>
                        <a:t>13.61%</a:t>
                      </a:r>
                    </a:p>
                  </a:txBody>
                  <a:tcPr/>
                </a:tc>
                <a:tc>
                  <a:txBody>
                    <a:bodyPr/>
                    <a:lstStyle/>
                    <a:p>
                      <a:r>
                        <a:t>23.06%</a:t>
                      </a:r>
                    </a:p>
                  </a:txBody>
                  <a:tcPr/>
                </a:tc>
                <a:tc>
                  <a:txBody>
                    <a:bodyPr/>
                    <a:lstStyle/>
                    <a:p>
                      <a:r>
                        <a:t>26.95%</a:t>
                      </a:r>
                    </a:p>
                  </a:txBody>
                  <a:tcPr/>
                </a:tc>
              </a:tr>
              <a:tr h="679268">
                <a:tc>
                  <a:txBody>
                    <a:bodyPr/>
                    <a:lstStyle/>
                    <a:p>
                      <a:r>
                        <a:t>**Sharpe**</a:t>
                      </a:r>
                    </a:p>
                  </a:txBody>
                  <a:tcPr/>
                </a:tc>
                <a:tc>
                  <a:txBody>
                    <a:bodyPr/>
                    <a:lstStyle/>
                    <a:p>
                      <a:r>
                        <a:t>3.65</a:t>
                      </a:r>
                    </a:p>
                  </a:txBody>
                  <a:tcPr/>
                </a:tc>
                <a:tc>
                  <a:txBody>
                    <a:bodyPr/>
                    <a:lstStyle/>
                    <a:p>
                      <a:r>
                        <a:t>1.19</a:t>
                      </a:r>
                    </a:p>
                  </a:txBody>
                  <a:tcPr/>
                </a:tc>
                <a:tc>
                  <a:txBody>
                    <a:bodyPr/>
                    <a:lstStyle/>
                    <a:p>
                      <a:r>
                        <a:t>1.55</a:t>
                      </a:r>
                    </a:p>
                  </a:txBody>
                  <a:tcPr/>
                </a:tc>
                <a:tc>
                  <a:txBody>
                    <a:bodyPr/>
                    <a:lstStyle/>
                    <a:p>
                      <a:r>
                        <a:t>1.316</a:t>
                      </a:r>
                    </a:p>
                  </a:txBody>
                  <a:tcPr/>
                </a:tc>
              </a:tr>
              <a:tr h="679268">
                <a:tc>
                  <a:txBody>
                    <a:bodyPr/>
                    <a:lstStyle/>
                    <a:p>
                      <a:r>
                        <a:t>**Beta**</a:t>
                      </a:r>
                    </a:p>
                  </a:txBody>
                  <a:tcPr/>
                </a:tc>
                <a:tc>
                  <a:txBody>
                    <a:bodyPr/>
                    <a:lstStyle/>
                    <a:p>
                      <a:r>
                        <a:t>0.38</a:t>
                      </a:r>
                    </a:p>
                  </a:txBody>
                  <a:tcPr/>
                </a:tc>
                <a:tc>
                  <a:txBody>
                    <a:bodyPr/>
                    <a:lstStyle/>
                    <a:p>
                      <a:r>
                        <a:t>0.55</a:t>
                      </a:r>
                    </a:p>
                  </a:txBody>
                  <a:tcPr/>
                </a:tc>
                <a:tc>
                  <a:txBody>
                    <a:bodyPr/>
                    <a:lstStyle/>
                    <a:p>
                      <a:r>
                        <a:t>0.57</a:t>
                      </a:r>
                    </a:p>
                  </a:txBody>
                  <a:tcPr/>
                </a:tc>
                <a:tc>
                  <a:txBody>
                    <a:bodyPr/>
                    <a:lstStyle/>
                    <a:p>
                      <a:r>
                        <a:t>0.858</a:t>
                      </a:r>
                    </a:p>
                  </a:txBody>
                  <a:tcPr/>
                </a:tc>
              </a:tr>
              <a:tr h="679268">
                <a:tc>
                  <a:txBody>
                    <a:bodyPr/>
                    <a:lstStyle/>
                    <a:p>
                      <a:r>
                        <a:t>**Expense**</a:t>
                      </a:r>
                    </a:p>
                  </a:txBody>
                  <a:tcPr/>
                </a:tc>
                <a:tc>
                  <a:txBody>
                    <a:bodyPr/>
                    <a:lstStyle/>
                    <a:p>
                      <a:r>
                        <a:t>0.24%</a:t>
                      </a:r>
                    </a:p>
                  </a:txBody>
                  <a:tcPr/>
                </a:tc>
                <a:tc>
                  <a:txBody>
                    <a:bodyPr/>
                    <a:lstStyle/>
                    <a:p>
                      <a:r>
                        <a:t>1.43%</a:t>
                      </a:r>
                    </a:p>
                  </a:txBody>
                  <a:tcPr/>
                </a:tc>
                <a:tc>
                  <a:txBody>
                    <a:bodyPr/>
                    <a:lstStyle/>
                    <a:p>
                      <a:r>
                        <a:t>0.63%</a:t>
                      </a:r>
                    </a:p>
                  </a:txBody>
                  <a:tcPr/>
                </a:tc>
                <a:tc>
                  <a:txBody>
                    <a:bodyPr/>
                    <a:lstStyle/>
                    <a:p>
                      <a:r>
                        <a:t>1.36%</a:t>
                      </a:r>
                    </a:p>
                  </a:txBody>
                  <a:tcPr/>
                </a:tc>
              </a:tr>
              <a:tr h="679268">
                <a:tc>
                  <a:txBody>
                    <a:bodyPr/>
                    <a:lstStyle/>
                    <a:p>
                      <a:r>
                        <a:t>**AUM (₹ Cr)**</a:t>
                      </a:r>
                    </a:p>
                  </a:txBody>
                  <a:tcPr/>
                </a:tc>
                <a:tc>
                  <a:txBody>
                    <a:bodyPr/>
                    <a:lstStyle/>
                    <a:p>
                      <a:r>
                        <a:t>37,357.87</a:t>
                      </a:r>
                    </a:p>
                  </a:txBody>
                  <a:tcPr/>
                </a:tc>
                <a:tc>
                  <a:txBody>
                    <a:bodyPr/>
                    <a:lstStyle/>
                    <a:p>
                      <a:r>
                        <a:t>69,868</a:t>
                      </a:r>
                    </a:p>
                  </a:txBody>
                  <a:tcPr/>
                </a:tc>
                <a:tc>
                  <a:txBody>
                    <a:bodyPr/>
                    <a:lstStyle/>
                    <a:p>
                      <a:r>
                        <a:t>1,29,783</a:t>
                      </a:r>
                    </a:p>
                  </a:txBody>
                  <a:tcPr/>
                </a:tc>
                <a:tc>
                  <a:txBody>
                    <a:bodyPr/>
                    <a:lstStyle/>
                    <a:p>
                      <a:r>
                        <a:t>92,168.85</a:t>
                      </a:r>
                    </a:p>
                  </a:txBody>
                  <a:tcPr/>
                </a:tc>
              </a:tr>
              <a:tr h="679272">
                <a:tc>
                  <a:txBody>
                    <a:bodyPr/>
                    <a:lstStyle/>
                    <a:p>
                      <a:r>
                        <a:t>**Exit‑load**</a:t>
                      </a:r>
                    </a:p>
                  </a:txBody>
                  <a:tcPr/>
                </a:tc>
                <a:tc>
                  <a:txBody>
                    <a:bodyPr/>
                    <a:lstStyle/>
                    <a:p>
                      <a:r>
                        <a:t>Day‑1 0.007% → Day‑7+ 0%</a:t>
                      </a:r>
                    </a:p>
                  </a:txBody>
                  <a:tcPr/>
                </a:tc>
                <a:tc>
                  <a:txBody>
                    <a:bodyPr/>
                    <a:lstStyle/>
                    <a:p>
                      <a:r>
                        <a:t>&gt;30% units: 1% within 1 year</a:t>
                      </a:r>
                    </a:p>
                  </a:txBody>
                  <a:tcPr/>
                </a:tc>
                <a:tc>
                  <a:txBody>
                    <a:bodyPr/>
                    <a:lstStyle/>
                    <a:p>
                      <a:r>
                        <a:t>2% ≤365d; 1% 366–730d (for units &gt;10%)</a:t>
                      </a:r>
                    </a:p>
                  </a:txBody>
                  <a:tcPr/>
                </a:tc>
                <a:tc>
                  <a:txBody>
                    <a:bodyPr/>
                    <a:lstStyle/>
                    <a:p>
                      <a:r>
                        <a:t>1% ≤365 days; Nil thereafter</a:t>
                      </a: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044C9-D344-F0D8-CB33-5A213143850F}"/>
              </a:ext>
            </a:extLst>
          </p:cNvPr>
          <p:cNvSpPr>
            <a:spLocks noGrp="1"/>
          </p:cNvSpPr>
          <p:nvPr>
            <p:ph type="title"/>
          </p:nvPr>
        </p:nvSpPr>
        <p:spPr>
          <a:xfrm>
            <a:off x="612648" y="706802"/>
            <a:ext cx="4672584" cy="1269482"/>
          </a:xfrm>
        </p:spPr>
        <p:txBody>
          <a:bodyPr anchor="t">
            <a:normAutofit/>
          </a:bodyPr>
          <a:lstStyle/>
          <a:p>
            <a:r>
              <a:rPr lang="en-US"/>
              <a:t>Understanding Metrics and Regulatory Guidelines</a:t>
            </a:r>
          </a:p>
        </p:txBody>
      </p:sp>
      <p:pic>
        <p:nvPicPr>
          <p:cNvPr id="5" name="Content Placeholder 4" descr="Office work table with economic charts documents on top view">
            <a:extLst>
              <a:ext uri="{FF2B5EF4-FFF2-40B4-BE49-F238E27FC236}">
                <a16:creationId xmlns:a16="http://schemas.microsoft.com/office/drawing/2014/main" id="{6D233084-1B48-4A70-8FCA-860768F36560}"/>
              </a:ext>
            </a:extLst>
          </p:cNvPr>
          <p:cNvPicPr>
            <a:picLocks noGrp="1" noChangeAspect="1"/>
          </p:cNvPicPr>
          <p:nvPr>
            <p:ph type="pic" sz="quarter" idx="13"/>
          </p:nvPr>
        </p:nvPicPr>
        <p:blipFill>
          <a:blip r:embed="rId3"/>
          <a:srcRect l="11455" r="11671" b="-2"/>
          <a:stretch>
            <a:fillRect/>
          </a:stretch>
        </p:blipFill>
        <p:spPr>
          <a:xfrm>
            <a:off x="720468" y="2173850"/>
            <a:ext cx="4564763" cy="3963682"/>
          </a:xfrm>
        </p:spPr>
      </p:pic>
      <p:sp>
        <p:nvSpPr>
          <p:cNvPr id="4" name="Content Placeholder 3">
            <a:extLst>
              <a:ext uri="{FF2B5EF4-FFF2-40B4-BE49-F238E27FC236}">
                <a16:creationId xmlns:a16="http://schemas.microsoft.com/office/drawing/2014/main" id="{019AC9B8-595C-3521-AA57-FBD9EDECBDA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Performance and Risk Metrics</a:t>
            </a:r>
          </a:p>
          <a:p>
            <a:pPr marL="0" lvl="1" indent="0">
              <a:buFont typeface="Arial" panose="020B0604020202020204" pitchFamily="34" charset="0"/>
              <a:buNone/>
            </a:pPr>
            <a:r>
              <a:t>Explains Sharpe ratio, Beta, Standard deviation, Sortino ratio, and rolling returns for fund evaluation.</a:t>
            </a:r>
            <a:endParaRPr lang="en-US"/>
          </a:p>
          <a:p>
            <a:pPr marL="0" indent="0">
              <a:spcBef>
                <a:spcPts val="2500"/>
              </a:spcBef>
              <a:buFont typeface="Arial" panose="020B0604020202020204" pitchFamily="34" charset="0"/>
              <a:buNone/>
            </a:pPr>
            <a:r>
              <a:rPr lang="en-US" b="1"/>
              <a:t>Risk Categorization</a:t>
            </a:r>
          </a:p>
          <a:p>
            <a:pPr marL="0" lvl="1" indent="0">
              <a:buFont typeface="Arial" panose="020B0604020202020204" pitchFamily="34" charset="0"/>
              <a:buNone/>
            </a:pPr>
            <a:r>
              <a:t>Riskometer categorizes funds from Low to Very High risk, aligning with investor risk profiles.</a:t>
            </a:r>
            <a:endParaRPr lang="en-US"/>
          </a:p>
          <a:p>
            <a:pPr marL="0" indent="0">
              <a:spcBef>
                <a:spcPts val="2500"/>
              </a:spcBef>
              <a:buFont typeface="Arial" panose="020B0604020202020204" pitchFamily="34" charset="0"/>
              <a:buNone/>
            </a:pPr>
            <a:r>
              <a:rPr lang="en-US" b="1"/>
              <a:t>Regulatory Compliance</a:t>
            </a:r>
          </a:p>
          <a:p>
            <a:pPr marL="0" lvl="1" indent="0">
              <a:buFont typeface="Arial" panose="020B0604020202020204" pitchFamily="34" charset="0"/>
              <a:buNone/>
            </a:pPr>
            <a:r>
              <a:t>SEBI caps exit loads at 3%, with scheme-specific guidelines ensuring investor protection.</a:t>
            </a:r>
            <a:endParaRPr lang="en-US"/>
          </a:p>
          <a:p>
            <a:pPr marL="0" indent="0">
              <a:spcBef>
                <a:spcPts val="2500"/>
              </a:spcBef>
              <a:buFont typeface="Arial" panose="020B0604020202020204" pitchFamily="34" charset="0"/>
              <a:buNone/>
            </a:pPr>
            <a:r>
              <a:rPr lang="en-US" b="1"/>
              <a:t>Investor Disclaimer</a:t>
            </a:r>
          </a:p>
          <a:p>
            <a:pPr marL="0" lvl="1" indent="0">
              <a:buFont typeface="Arial" panose="020B0604020202020204" pitchFamily="34" charset="0"/>
              <a:buNone/>
            </a:pPr>
            <a:r>
              <a:t>Mutual fund investments carry market risks; past performance may not predict future results.</a:t>
            </a:r>
            <a:endParaRPr lang="en-US"/>
          </a:p>
        </p:txBody>
      </p:sp>
    </p:spTree>
    <p:extLst>
      <p:ext uri="{BB962C8B-B14F-4D97-AF65-F5344CB8AC3E}">
        <p14:creationId xmlns:p14="http://schemas.microsoft.com/office/powerpoint/2010/main" val="2759009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B79205-1ECA-438E-AAC0-B28ABB0DD1EB}">
  <ds:schemaRefs>
    <ds:schemaRef ds:uri="http://schemas.microsoft.com/sharepoint/v3/contenttype/forms"/>
  </ds:schemaRefs>
</ds:datastoreItem>
</file>

<file path=customXml/itemProps2.xml><?xml version="1.0" encoding="utf-8"?>
<ds:datastoreItem xmlns:ds="http://schemas.openxmlformats.org/officeDocument/2006/customXml" ds:itemID="{3C0CEB72-9B64-43A4-9652-F0FED519FBF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2</TotalTime>
  <Words>4</Words>
  <Application>Microsoft Office PowerPoint</Application>
  <PresentationFormat>Widescreen</PresentationFormat>
  <Paragraphs>2</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Helena</vt:lpstr>
      <vt:lpstr>Investment Proposal for Shruti Suman</vt:lpstr>
      <vt:lpstr>PowerPoint Presentation</vt:lpstr>
      <vt:lpstr>Asset Mix &amp; Suggested Allocation</vt:lpstr>
      <vt:lpstr>Portfolio Structure and Allocation</vt:lpstr>
      <vt:lpstr>Fund Analysis Slides</vt:lpstr>
      <vt:lpstr>Axis Liquid Fund – Direct Growth</vt:lpstr>
      <vt:lpstr>ICICI Prudential Balanced Advantage Fund — Regular Growth</vt:lpstr>
      <vt:lpstr>Parag Parikh Flexi Cap Fund – Direct Growth</vt:lpstr>
      <vt:lpstr>HDFC Mid‑Cap Fund – Direct Growth</vt:lpstr>
      <vt:lpstr>Key Metrics &amp; Compliance Notes</vt:lpstr>
      <vt:lpstr>Understanding Metrics and Regulatory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13</cp:revision>
  <dcterms:created xsi:type="dcterms:W3CDTF">2025-08-21T23:24:42Z</dcterms:created>
  <dcterms:modified xsi:type="dcterms:W3CDTF">2026-01-05T07:22:52Z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